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4" r:id="rId4"/>
    <p:sldId id="258" r:id="rId5"/>
    <p:sldId id="259" r:id="rId6"/>
    <p:sldId id="260" r:id="rId7"/>
    <p:sldId id="265" r:id="rId8"/>
    <p:sldId id="263" r:id="rId9"/>
    <p:sldId id="262" r:id="rId10"/>
    <p:sldId id="266" r:id="rId11"/>
  </p:sldIdLst>
  <p:sldSz cx="18288000" cy="10287000"/>
  <p:notesSz cx="6858000" cy="9144000"/>
  <p:embeddedFontLst>
    <p:embeddedFont>
      <p:font typeface="Martel Sans" panose="020B0604020202020204" charset="0"/>
      <p:regular r:id="rId13"/>
    </p:embeddedFont>
    <p:embeddedFont>
      <p:font typeface="Martel Sans Bol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Arimo" panose="020B0604020202020204" charset="0"/>
      <p:regular r:id="rId19"/>
    </p:embeddedFont>
    <p:embeddedFont>
      <p:font typeface="Canva Sans" panose="020B0604020202020204" charset="0"/>
      <p:regular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Canva Sans Bold" panose="020B0604020202020204" charset="0"/>
      <p:regular r:id="rId25"/>
    </p:embeddedFont>
    <p:embeddedFont>
      <p:font typeface="Consolas Bold" panose="020B0709020204030204" pitchFamily="49" charset="0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</a:t>
            </a: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57372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2</a:t>
            </a: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5746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3</a:t>
            </a: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68997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4</a:t>
            </a: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49049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5</a:t>
            </a: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53404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80311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7</a:t>
            </a: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50173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760" b="-876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92238" y="2400300"/>
            <a:ext cx="9445526" cy="3539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937"/>
              </a:lnSpc>
            </a:pPr>
            <a:r>
              <a:rPr lang="en-US" sz="6000" dirty="0"/>
              <a:t>ATM Withdrawal Consumption Trend, Refill Optimization &amp; Customer Service Enhancement Study</a:t>
            </a:r>
            <a:endParaRPr lang="en-US" sz="5562" dirty="0">
              <a:solidFill>
                <a:srgbClr val="272D4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2238" y="6145709"/>
            <a:ext cx="9445526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 smtClean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Model Practical</a:t>
            </a:r>
          </a:p>
          <a:p>
            <a:pPr algn="l">
              <a:lnSpc>
                <a:spcPts val="3562"/>
              </a:lnSpc>
            </a:pPr>
            <a:r>
              <a:rPr lang="en-US" sz="2187" dirty="0" smtClean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This study delves into ATM cash usage patterns, aiming to develop an optimal refill strategy.</a:t>
            </a:r>
            <a:endParaRPr lang="en-US" sz="2187" dirty="0">
              <a:solidFill>
                <a:srgbClr val="2C3249"/>
              </a:solidFill>
              <a:latin typeface="Martel Sans"/>
              <a:ea typeface="Martel Sans"/>
              <a:cs typeface="Martel Sans"/>
              <a:sym typeface="Marte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91257" y="2186284"/>
            <a:ext cx="8136434" cy="114300"/>
            <a:chOff x="0" y="0"/>
            <a:chExt cx="10848578" cy="152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48594" cy="152400"/>
            </a:xfrm>
            <a:custGeom>
              <a:avLst/>
              <a:gdLst/>
              <a:ahLst/>
              <a:cxnLst/>
              <a:rect l="l" t="t" r="r" b="b"/>
              <a:pathLst>
                <a:path w="10848594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0772394" y="0"/>
                  </a:lnTo>
                  <a:cubicBezTo>
                    <a:pt x="10814431" y="0"/>
                    <a:pt x="10848594" y="34163"/>
                    <a:pt x="10848594" y="76200"/>
                  </a:cubicBezTo>
                  <a:cubicBezTo>
                    <a:pt x="10848594" y="118237"/>
                    <a:pt x="10814431" y="152400"/>
                    <a:pt x="10772394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43706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477978" y="1872730"/>
            <a:ext cx="755600" cy="755600"/>
            <a:chOff x="0" y="0"/>
            <a:chExt cx="1007467" cy="10074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7491" cy="1007491"/>
            </a:xfrm>
            <a:custGeom>
              <a:avLst/>
              <a:gdLst/>
              <a:ahLst/>
              <a:cxnLst/>
              <a:rect l="l" t="t" r="r" b="b"/>
              <a:pathLst>
                <a:path w="1007491" h="1007491">
                  <a:moveTo>
                    <a:pt x="0" y="503682"/>
                  </a:moveTo>
                  <a:cubicBezTo>
                    <a:pt x="0" y="225552"/>
                    <a:pt x="225552" y="0"/>
                    <a:pt x="503682" y="0"/>
                  </a:cubicBezTo>
                  <a:cubicBezTo>
                    <a:pt x="781812" y="0"/>
                    <a:pt x="1007491" y="225552"/>
                    <a:pt x="1007491" y="503682"/>
                  </a:cubicBezTo>
                  <a:cubicBezTo>
                    <a:pt x="1007491" y="781812"/>
                    <a:pt x="781939" y="1007491"/>
                    <a:pt x="503682" y="1007491"/>
                  </a:cubicBezTo>
                  <a:cubicBezTo>
                    <a:pt x="225425" y="1007491"/>
                    <a:pt x="0" y="781939"/>
                    <a:pt x="0" y="503682"/>
                  </a:cubicBezTo>
                  <a:close/>
                </a:path>
              </a:pathLst>
            </a:custGeom>
            <a:solidFill>
              <a:srgbClr val="43706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9199140" y="2199117"/>
            <a:ext cx="8136434" cy="114300"/>
            <a:chOff x="0" y="0"/>
            <a:chExt cx="10848578" cy="152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848594" cy="152400"/>
            </a:xfrm>
            <a:custGeom>
              <a:avLst/>
              <a:gdLst/>
              <a:ahLst/>
              <a:cxnLst/>
              <a:rect l="l" t="t" r="r" b="b"/>
              <a:pathLst>
                <a:path w="10848594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0772394" y="0"/>
                  </a:lnTo>
                  <a:cubicBezTo>
                    <a:pt x="10814431" y="0"/>
                    <a:pt x="10848594" y="34163"/>
                    <a:pt x="10848594" y="76200"/>
                  </a:cubicBezTo>
                  <a:cubicBezTo>
                    <a:pt x="10848594" y="118237"/>
                    <a:pt x="10814431" y="152400"/>
                    <a:pt x="10772394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43706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2960325" y="1922784"/>
            <a:ext cx="755600" cy="755600"/>
            <a:chOff x="0" y="0"/>
            <a:chExt cx="1007467" cy="100746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7491" cy="1007491"/>
            </a:xfrm>
            <a:custGeom>
              <a:avLst/>
              <a:gdLst/>
              <a:ahLst/>
              <a:cxnLst/>
              <a:rect l="l" t="t" r="r" b="b"/>
              <a:pathLst>
                <a:path w="1007491" h="1007491">
                  <a:moveTo>
                    <a:pt x="0" y="503682"/>
                  </a:moveTo>
                  <a:cubicBezTo>
                    <a:pt x="0" y="225552"/>
                    <a:pt x="225552" y="0"/>
                    <a:pt x="503682" y="0"/>
                  </a:cubicBezTo>
                  <a:cubicBezTo>
                    <a:pt x="781812" y="0"/>
                    <a:pt x="1007491" y="225552"/>
                    <a:pt x="1007491" y="503682"/>
                  </a:cubicBezTo>
                  <a:cubicBezTo>
                    <a:pt x="1007491" y="781812"/>
                    <a:pt x="781939" y="1007491"/>
                    <a:pt x="503682" y="1007491"/>
                  </a:cubicBezTo>
                  <a:cubicBezTo>
                    <a:pt x="225425" y="1007491"/>
                    <a:pt x="0" y="781939"/>
                    <a:pt x="0" y="503682"/>
                  </a:cubicBezTo>
                  <a:close/>
                </a:path>
              </a:pathLst>
            </a:custGeom>
            <a:solidFill>
              <a:srgbClr val="43706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881656" y="1109663"/>
            <a:ext cx="12305333" cy="740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sz="4937" dirty="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Problem </a:t>
            </a:r>
            <a:r>
              <a:rPr lang="en-US" sz="4937" dirty="0" smtClean="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Statement</a:t>
            </a:r>
            <a:endParaRPr lang="en-US" sz="4937" dirty="0">
              <a:solidFill>
                <a:srgbClr val="272D4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798740" y="2019698"/>
            <a:ext cx="23046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2"/>
              </a:lnSpc>
            </a:pPr>
            <a:r>
              <a:rPr lang="en-US" sz="2274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70759" y="2741515"/>
            <a:ext cx="5152579" cy="40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1"/>
              </a:lnSpc>
            </a:pPr>
            <a:r>
              <a:rPr lang="en-US" sz="2499" dirty="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Problem 1: Cash Demand Prediction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71655" y="3286931"/>
            <a:ext cx="7575649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Inaccurate forecasting → </a:t>
            </a:r>
            <a:r>
              <a:rPr lang="en-US" b="1" dirty="0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30–40% excess cash</a:t>
            </a:r>
            <a:r>
              <a:rPr lang="en-US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in ATMs, tying up capital and losing interest. Forecasting must consider weekly/monthly cycles, holidays, events, ATM downtime, and denomination patterns.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257758" y="2033811"/>
            <a:ext cx="160734" cy="433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2"/>
              </a:lnSpc>
            </a:pPr>
            <a:r>
              <a:rPr lang="en-US" sz="2274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50301" y="2772172"/>
            <a:ext cx="5716786" cy="40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1"/>
              </a:lnSpc>
            </a:pPr>
            <a:r>
              <a:rPr lang="en-US" sz="2499" dirty="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Problem 2: Refill Cycle &amp; Replenishment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50300" y="3239444"/>
            <a:ext cx="7575649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Static refill schedules result in unnecessary, high-cost Cash-in-Transit (CIT) trips. Each trip involves a GPS-enabled van, two custodians, and two armed guards.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51118" y="4243061"/>
            <a:ext cx="757564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b="1" dirty="0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Goal:</a:t>
            </a:r>
            <a:r>
              <a:rPr lang="en-US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Minimize CIT trips while maintaining </a:t>
            </a:r>
            <a:r>
              <a:rPr lang="en-US" b="1" dirty="0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99.8% ATM uptime</a:t>
            </a:r>
            <a:r>
              <a:rPr lang="en-US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using data-driven insights and routing optimization.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62050" y="5457067"/>
            <a:ext cx="1588145" cy="371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1"/>
              </a:lnSpc>
            </a:pPr>
            <a:r>
              <a:rPr lang="en-US" sz="2499" dirty="0" smtClean="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lang="en-US" sz="2499" dirty="0">
              <a:solidFill>
                <a:srgbClr val="2C324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29" name="Group 8"/>
          <p:cNvGrpSpPr/>
          <p:nvPr/>
        </p:nvGrpSpPr>
        <p:grpSpPr>
          <a:xfrm>
            <a:off x="891256" y="6193801"/>
            <a:ext cx="8136446" cy="114300"/>
            <a:chOff x="1046841" y="353624"/>
            <a:chExt cx="10848594" cy="152400"/>
          </a:xfrm>
        </p:grpSpPr>
        <p:sp>
          <p:nvSpPr>
            <p:cNvPr id="30" name="Freeform 9"/>
            <p:cNvSpPr/>
            <p:nvPr/>
          </p:nvSpPr>
          <p:spPr>
            <a:xfrm>
              <a:off x="1046841" y="353624"/>
              <a:ext cx="10848594" cy="152400"/>
            </a:xfrm>
            <a:custGeom>
              <a:avLst/>
              <a:gdLst/>
              <a:ahLst/>
              <a:cxnLst/>
              <a:rect l="l" t="t" r="r" b="b"/>
              <a:pathLst>
                <a:path w="10848594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0772394" y="0"/>
                  </a:lnTo>
                  <a:cubicBezTo>
                    <a:pt x="10814431" y="0"/>
                    <a:pt x="10848594" y="34163"/>
                    <a:pt x="10848594" y="76200"/>
                  </a:cubicBezTo>
                  <a:cubicBezTo>
                    <a:pt x="10848594" y="118237"/>
                    <a:pt x="10814431" y="152400"/>
                    <a:pt x="10772394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43706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1" name="Group 8"/>
          <p:cNvGrpSpPr/>
          <p:nvPr/>
        </p:nvGrpSpPr>
        <p:grpSpPr>
          <a:xfrm>
            <a:off x="9304765" y="6193329"/>
            <a:ext cx="8136446" cy="114300"/>
            <a:chOff x="1046841" y="353624"/>
            <a:chExt cx="10848594" cy="152400"/>
          </a:xfrm>
        </p:grpSpPr>
        <p:sp>
          <p:nvSpPr>
            <p:cNvPr id="32" name="Freeform 9"/>
            <p:cNvSpPr/>
            <p:nvPr/>
          </p:nvSpPr>
          <p:spPr>
            <a:xfrm>
              <a:off x="1046841" y="353624"/>
              <a:ext cx="10848594" cy="152400"/>
            </a:xfrm>
            <a:custGeom>
              <a:avLst/>
              <a:gdLst/>
              <a:ahLst/>
              <a:cxnLst/>
              <a:rect l="l" t="t" r="r" b="b"/>
              <a:pathLst>
                <a:path w="10848594" h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0772394" y="0"/>
                  </a:lnTo>
                  <a:cubicBezTo>
                    <a:pt x="10814431" y="0"/>
                    <a:pt x="10848594" y="34163"/>
                    <a:pt x="10848594" y="76200"/>
                  </a:cubicBezTo>
                  <a:cubicBezTo>
                    <a:pt x="10848594" y="118237"/>
                    <a:pt x="10814431" y="152400"/>
                    <a:pt x="10772394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43706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3" name="Group 10"/>
          <p:cNvGrpSpPr/>
          <p:nvPr/>
        </p:nvGrpSpPr>
        <p:grpSpPr>
          <a:xfrm>
            <a:off x="4477978" y="5904853"/>
            <a:ext cx="755618" cy="755618"/>
            <a:chOff x="-24" y="-12"/>
            <a:chExt cx="1007491" cy="1007491"/>
          </a:xfrm>
        </p:grpSpPr>
        <p:sp>
          <p:nvSpPr>
            <p:cNvPr id="34" name="Freeform 11"/>
            <p:cNvSpPr/>
            <p:nvPr/>
          </p:nvSpPr>
          <p:spPr>
            <a:xfrm>
              <a:off x="-24" y="-12"/>
              <a:ext cx="1007491" cy="1007491"/>
            </a:xfrm>
            <a:custGeom>
              <a:avLst/>
              <a:gdLst/>
              <a:ahLst/>
              <a:cxnLst/>
              <a:rect l="l" t="t" r="r" b="b"/>
              <a:pathLst>
                <a:path w="1007491" h="1007491">
                  <a:moveTo>
                    <a:pt x="0" y="503682"/>
                  </a:moveTo>
                  <a:cubicBezTo>
                    <a:pt x="0" y="225552"/>
                    <a:pt x="225552" y="0"/>
                    <a:pt x="503682" y="0"/>
                  </a:cubicBezTo>
                  <a:cubicBezTo>
                    <a:pt x="781812" y="0"/>
                    <a:pt x="1007491" y="225552"/>
                    <a:pt x="1007491" y="503682"/>
                  </a:cubicBezTo>
                  <a:cubicBezTo>
                    <a:pt x="1007491" y="781812"/>
                    <a:pt x="781939" y="1007491"/>
                    <a:pt x="503682" y="1007491"/>
                  </a:cubicBezTo>
                  <a:cubicBezTo>
                    <a:pt x="225425" y="1007491"/>
                    <a:pt x="0" y="781939"/>
                    <a:pt x="0" y="503682"/>
                  </a:cubicBezTo>
                  <a:close/>
                </a:path>
              </a:pathLst>
            </a:custGeom>
            <a:solidFill>
              <a:srgbClr val="43706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5" name="Freeform 11"/>
          <p:cNvSpPr/>
          <p:nvPr/>
        </p:nvSpPr>
        <p:spPr>
          <a:xfrm>
            <a:off x="12960325" y="5929820"/>
            <a:ext cx="755618" cy="755618"/>
          </a:xfrm>
          <a:custGeom>
            <a:avLst/>
            <a:gdLst/>
            <a:ahLst/>
            <a:cxnLst/>
            <a:rect l="l" t="t" r="r" b="b"/>
            <a:pathLst>
              <a:path w="1007491" h="1007491">
                <a:moveTo>
                  <a:pt x="0" y="503682"/>
                </a:moveTo>
                <a:cubicBezTo>
                  <a:pt x="0" y="225552"/>
                  <a:pt x="225552" y="0"/>
                  <a:pt x="503682" y="0"/>
                </a:cubicBezTo>
                <a:cubicBezTo>
                  <a:pt x="781812" y="0"/>
                  <a:pt x="1007491" y="225552"/>
                  <a:pt x="1007491" y="503682"/>
                </a:cubicBezTo>
                <a:cubicBezTo>
                  <a:pt x="1007491" y="781812"/>
                  <a:pt x="781939" y="1007491"/>
                  <a:pt x="503682" y="1007491"/>
                </a:cubicBezTo>
                <a:cubicBezTo>
                  <a:pt x="225425" y="1007491"/>
                  <a:pt x="0" y="781939"/>
                  <a:pt x="0" y="503682"/>
                </a:cubicBezTo>
                <a:close/>
              </a:path>
            </a:pathLst>
          </a:custGeom>
          <a:solidFill>
            <a:srgbClr val="437066"/>
          </a:solidFill>
          <a:ln w="12700">
            <a:solidFill>
              <a:srgbClr val="000000"/>
            </a:solidFill>
          </a:ln>
        </p:spPr>
      </p:sp>
      <p:sp>
        <p:nvSpPr>
          <p:cNvPr id="37" name="TextBox 20"/>
          <p:cNvSpPr txBox="1"/>
          <p:nvPr/>
        </p:nvSpPr>
        <p:spPr>
          <a:xfrm>
            <a:off x="4798740" y="6083549"/>
            <a:ext cx="23046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2"/>
              </a:lnSpc>
            </a:pPr>
            <a:r>
              <a:rPr lang="en-US" sz="2274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id="38" name="TextBox 20"/>
          <p:cNvSpPr txBox="1"/>
          <p:nvPr/>
        </p:nvSpPr>
        <p:spPr>
          <a:xfrm>
            <a:off x="13257758" y="6075546"/>
            <a:ext cx="23046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2"/>
              </a:lnSpc>
            </a:pPr>
            <a:r>
              <a:rPr lang="en-US" sz="2274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929418" y="6859564"/>
            <a:ext cx="7817886" cy="887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141"/>
              </a:lnSpc>
            </a:pPr>
            <a:r>
              <a:rPr lang="en-US" sz="2500" dirty="0">
                <a:solidFill>
                  <a:srgbClr val="2C324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Problem </a:t>
            </a:r>
            <a:r>
              <a:rPr lang="en-US" sz="2500" dirty="0" smtClean="0">
                <a:solidFill>
                  <a:schemeClr val="tx2">
                    <a:lumMod val="50000"/>
                  </a:schemeClr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3: 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Women’s 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Safety &amp; Convenience in ATM Usage</a:t>
            </a:r>
            <a:endParaRPr lang="en-US" sz="2500" dirty="0">
              <a:solidFill>
                <a:schemeClr val="tx2">
                  <a:lumMod val="50000"/>
                </a:schemeClr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Arimo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91256" y="7903422"/>
            <a:ext cx="78560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19"/>
              </a:lnSpc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Martel Sans" panose="020B0604020202020204" charset="0"/>
                <a:cs typeface="Martel Sans" panose="020B0604020202020204" charset="0"/>
              </a:rPr>
              <a:t>Women often face safety and security risks while using ATMs at night or in isolated areas — leading to discomfort or avoidance of ATM usage by women.</a:t>
            </a:r>
            <a:endParaRPr lang="en-US" dirty="0">
              <a:solidFill>
                <a:schemeClr val="tx2">
                  <a:lumMod val="50000"/>
                </a:schemeClr>
              </a:solidFill>
              <a:latin typeface="Martel Sans" panose="020B0604020202020204" charset="0"/>
              <a:ea typeface="Martel Sans"/>
              <a:cs typeface="Martel Sans" panose="020B0604020202020204" charset="0"/>
              <a:sym typeface="Martel Sa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76976" y="6859564"/>
            <a:ext cx="7780774" cy="887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141"/>
              </a:lnSpc>
            </a:pPr>
            <a:r>
              <a:rPr lang="en-US" sz="2500" dirty="0">
                <a:solidFill>
                  <a:srgbClr val="2C324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Problem </a:t>
            </a:r>
            <a:r>
              <a:rPr lang="en-US" sz="2500" dirty="0" smtClean="0">
                <a:solidFill>
                  <a:srgbClr val="2C3249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4: 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Difficulties 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Faced by Senior Citizens in ATM Transactions</a:t>
            </a:r>
            <a:endParaRPr lang="en-US" sz="2500" dirty="0">
              <a:solidFill>
                <a:schemeClr val="tx2">
                  <a:lumMod val="50000"/>
                </a:schemeClr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Arimo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376976" y="7862850"/>
            <a:ext cx="785604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19"/>
              </a:lnSpc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Martel Sans" panose="020B0604020202020204" charset="0"/>
                <a:cs typeface="Martel Sans" panose="020B0604020202020204" charset="0"/>
              </a:rPr>
              <a:t>Senior citizens often find ATM usage difficult because of vision problems, complexity of steps, fear of mistakes or fraud, and lack of confidence — which discourages many of them from using ATMs regularly.</a:t>
            </a:r>
            <a:endParaRPr lang="en-US" dirty="0">
              <a:solidFill>
                <a:schemeClr val="tx2">
                  <a:lumMod val="50000"/>
                </a:schemeClr>
              </a:solidFill>
              <a:latin typeface="Martel Sans" panose="020B0604020202020204" charset="0"/>
              <a:ea typeface="Martel Sans"/>
              <a:cs typeface="Martel Sans" panose="020B0604020202020204" charset="0"/>
              <a:sym typeface="Martel Sans"/>
            </a:endParaRPr>
          </a:p>
        </p:txBody>
      </p:sp>
      <p:grpSp>
        <p:nvGrpSpPr>
          <p:cNvPr id="36" name="Group 7"/>
          <p:cNvGrpSpPr/>
          <p:nvPr/>
        </p:nvGrpSpPr>
        <p:grpSpPr>
          <a:xfrm>
            <a:off x="609600" y="9302152"/>
            <a:ext cx="16992599" cy="815163"/>
            <a:chOff x="0" y="0"/>
            <a:chExt cx="9513009" cy="5673783"/>
          </a:xfrm>
        </p:grpSpPr>
        <p:sp>
          <p:nvSpPr>
            <p:cNvPr id="40" name="Freeform 8"/>
            <p:cNvSpPr/>
            <p:nvPr/>
          </p:nvSpPr>
          <p:spPr>
            <a:xfrm>
              <a:off x="9548" y="6172"/>
              <a:ext cx="9493983" cy="5661416"/>
            </a:xfrm>
            <a:custGeom>
              <a:avLst/>
              <a:gdLst/>
              <a:ahLst/>
              <a:cxnLst/>
              <a:rect l="l" t="t" r="r" b="b"/>
              <a:pathLst>
                <a:path w="9493983" h="5661416">
                  <a:moveTo>
                    <a:pt x="0" y="133305"/>
                  </a:moveTo>
                  <a:cubicBezTo>
                    <a:pt x="0" y="59617"/>
                    <a:pt x="92236" y="0"/>
                    <a:pt x="206242" y="0"/>
                  </a:cubicBezTo>
                  <a:lnTo>
                    <a:pt x="9287742" y="0"/>
                  </a:lnTo>
                  <a:cubicBezTo>
                    <a:pt x="9401557" y="0"/>
                    <a:pt x="9493984" y="59617"/>
                    <a:pt x="9493984" y="133305"/>
                  </a:cubicBezTo>
                  <a:lnTo>
                    <a:pt x="9493984" y="5528110"/>
                  </a:lnTo>
                  <a:cubicBezTo>
                    <a:pt x="9493984" y="5601675"/>
                    <a:pt x="9401748" y="5661416"/>
                    <a:pt x="9287742" y="5661416"/>
                  </a:cubicBezTo>
                  <a:lnTo>
                    <a:pt x="206242" y="5661416"/>
                  </a:lnTo>
                  <a:cubicBezTo>
                    <a:pt x="92427" y="5661416"/>
                    <a:pt x="0" y="5601799"/>
                    <a:pt x="0" y="5528110"/>
                  </a:cubicBezTo>
                  <a:close/>
                </a:path>
              </a:pathLst>
            </a:custGeom>
            <a:solidFill>
              <a:srgbClr val="DFECE9"/>
            </a:solidFill>
            <a:ln w="12700">
              <a:solidFill>
                <a:srgbClr val="000000"/>
              </a:solidFill>
            </a:ln>
          </p:spPr>
        </p:sp>
        <p:sp>
          <p:nvSpPr>
            <p:cNvPr id="41" name="Freeform 9"/>
            <p:cNvSpPr/>
            <p:nvPr/>
          </p:nvSpPr>
          <p:spPr>
            <a:xfrm>
              <a:off x="0" y="0"/>
              <a:ext cx="9513056" cy="5673759"/>
            </a:xfrm>
            <a:custGeom>
              <a:avLst/>
              <a:gdLst/>
              <a:ahLst/>
              <a:cxnLst/>
              <a:rect l="l" t="t" r="r" b="b"/>
              <a:pathLst>
                <a:path w="9513056" h="5673759">
                  <a:moveTo>
                    <a:pt x="0" y="139477"/>
                  </a:moveTo>
                  <a:cubicBezTo>
                    <a:pt x="0" y="62456"/>
                    <a:pt x="96628" y="0"/>
                    <a:pt x="215790" y="0"/>
                  </a:cubicBezTo>
                  <a:lnTo>
                    <a:pt x="9297290" y="0"/>
                  </a:lnTo>
                  <a:lnTo>
                    <a:pt x="9297290" y="6172"/>
                  </a:lnTo>
                  <a:lnTo>
                    <a:pt x="9297290" y="0"/>
                  </a:lnTo>
                  <a:cubicBezTo>
                    <a:pt x="9416452" y="0"/>
                    <a:pt x="9513056" y="62456"/>
                    <a:pt x="9513056" y="139477"/>
                  </a:cubicBezTo>
                  <a:lnTo>
                    <a:pt x="9503532" y="139477"/>
                  </a:lnTo>
                  <a:lnTo>
                    <a:pt x="9513056" y="139477"/>
                  </a:lnTo>
                  <a:lnTo>
                    <a:pt x="9513056" y="5534282"/>
                  </a:lnTo>
                  <a:lnTo>
                    <a:pt x="9503532" y="5534282"/>
                  </a:lnTo>
                  <a:lnTo>
                    <a:pt x="9513056" y="5534282"/>
                  </a:lnTo>
                  <a:cubicBezTo>
                    <a:pt x="9513056" y="5611303"/>
                    <a:pt x="9416452" y="5673759"/>
                    <a:pt x="9297290" y="5673759"/>
                  </a:cubicBezTo>
                  <a:lnTo>
                    <a:pt x="9297290" y="5667588"/>
                  </a:lnTo>
                  <a:lnTo>
                    <a:pt x="9297290" y="5673759"/>
                  </a:lnTo>
                  <a:lnTo>
                    <a:pt x="215790" y="5673759"/>
                  </a:lnTo>
                  <a:lnTo>
                    <a:pt x="215790" y="5667588"/>
                  </a:lnTo>
                  <a:lnTo>
                    <a:pt x="215790" y="5673759"/>
                  </a:lnTo>
                  <a:cubicBezTo>
                    <a:pt x="96628" y="5673759"/>
                    <a:pt x="0" y="5611303"/>
                    <a:pt x="0" y="5534282"/>
                  </a:cubicBezTo>
                  <a:lnTo>
                    <a:pt x="0" y="139477"/>
                  </a:lnTo>
                  <a:lnTo>
                    <a:pt x="9548" y="139477"/>
                  </a:lnTo>
                  <a:lnTo>
                    <a:pt x="0" y="139477"/>
                  </a:lnTo>
                  <a:moveTo>
                    <a:pt x="19096" y="139477"/>
                  </a:moveTo>
                  <a:lnTo>
                    <a:pt x="19096" y="5534282"/>
                  </a:lnTo>
                  <a:lnTo>
                    <a:pt x="9548" y="5534282"/>
                  </a:lnTo>
                  <a:lnTo>
                    <a:pt x="19096" y="5534282"/>
                  </a:lnTo>
                  <a:cubicBezTo>
                    <a:pt x="19096" y="5604514"/>
                    <a:pt x="107131" y="5661416"/>
                    <a:pt x="215790" y="5661416"/>
                  </a:cubicBezTo>
                  <a:lnTo>
                    <a:pt x="9297290" y="5661416"/>
                  </a:lnTo>
                  <a:cubicBezTo>
                    <a:pt x="9405949" y="5661416"/>
                    <a:pt x="9493983" y="5604514"/>
                    <a:pt x="9493983" y="5534282"/>
                  </a:cubicBezTo>
                  <a:lnTo>
                    <a:pt x="9493983" y="139477"/>
                  </a:lnTo>
                  <a:cubicBezTo>
                    <a:pt x="9493983" y="69245"/>
                    <a:pt x="9405949" y="12343"/>
                    <a:pt x="9297290" y="12343"/>
                  </a:cubicBezTo>
                  <a:lnTo>
                    <a:pt x="215790" y="12343"/>
                  </a:lnTo>
                  <a:lnTo>
                    <a:pt x="215790" y="6172"/>
                  </a:lnTo>
                  <a:lnTo>
                    <a:pt x="215790" y="12343"/>
                  </a:lnTo>
                  <a:cubicBezTo>
                    <a:pt x="107131" y="12343"/>
                    <a:pt x="19096" y="69245"/>
                    <a:pt x="19096" y="139477"/>
                  </a:cubicBezTo>
                  <a:close/>
                </a:path>
              </a:pathLst>
            </a:custGeom>
            <a:solidFill>
              <a:srgbClr val="C5D2C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2" name="Rectangle 41"/>
          <p:cNvSpPr/>
          <p:nvPr/>
        </p:nvSpPr>
        <p:spPr>
          <a:xfrm>
            <a:off x="929418" y="9409429"/>
            <a:ext cx="1651179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19"/>
              </a:lnSpc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Martel Sans" panose="020B0604020202020204" charset="0"/>
                <a:cs typeface="Martel Sans" panose="020B0604020202020204" charset="0"/>
              </a:rPr>
              <a:t>These challenges affect both ATM operational efficiency and customer experience, highlighting the need for data-driven optimization and customer-focused service improvements.</a:t>
            </a:r>
            <a:endParaRPr lang="en-US" dirty="0">
              <a:solidFill>
                <a:schemeClr val="tx2">
                  <a:lumMod val="50000"/>
                </a:schemeClr>
              </a:solidFill>
              <a:latin typeface="Martel Sans" panose="020B0604020202020204" charset="0"/>
              <a:cs typeface="Martel Sans" panose="020B0604020202020204" charset="0"/>
              <a:sym typeface="Marte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6"/>
          <p:cNvSpPr txBox="1"/>
          <p:nvPr/>
        </p:nvSpPr>
        <p:spPr>
          <a:xfrm>
            <a:off x="921692" y="225764"/>
            <a:ext cx="9746308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37"/>
              </a:lnSpc>
            </a:pPr>
            <a:r>
              <a:rPr lang="en-US" sz="5400" dirty="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Project </a:t>
            </a:r>
            <a:r>
              <a:rPr lang="en-US" sz="4950" dirty="0" smtClean="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Objective</a:t>
            </a:r>
            <a:r>
              <a:rPr lang="en-US" sz="5125" dirty="0" smtClean="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lang="en-US" sz="5125" dirty="0">
              <a:solidFill>
                <a:srgbClr val="272D4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" name="TextBox 9"/>
          <p:cNvSpPr txBox="1"/>
          <p:nvPr/>
        </p:nvSpPr>
        <p:spPr>
          <a:xfrm>
            <a:off x="1295400" y="5338369"/>
            <a:ext cx="7986532" cy="298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lang="en-US" sz="1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0" name="Group 7"/>
          <p:cNvGrpSpPr/>
          <p:nvPr/>
        </p:nvGrpSpPr>
        <p:grpSpPr>
          <a:xfrm>
            <a:off x="1295399" y="1130757"/>
            <a:ext cx="16309403" cy="3665021"/>
            <a:chOff x="0" y="0"/>
            <a:chExt cx="9513009" cy="5673783"/>
          </a:xfrm>
        </p:grpSpPr>
        <p:sp>
          <p:nvSpPr>
            <p:cNvPr id="11" name="Freeform 8"/>
            <p:cNvSpPr/>
            <p:nvPr/>
          </p:nvSpPr>
          <p:spPr>
            <a:xfrm>
              <a:off x="9548" y="6172"/>
              <a:ext cx="9493983" cy="5661416"/>
            </a:xfrm>
            <a:custGeom>
              <a:avLst/>
              <a:gdLst/>
              <a:ahLst/>
              <a:cxnLst/>
              <a:rect l="l" t="t" r="r" b="b"/>
              <a:pathLst>
                <a:path w="9493983" h="5661416">
                  <a:moveTo>
                    <a:pt x="0" y="133305"/>
                  </a:moveTo>
                  <a:cubicBezTo>
                    <a:pt x="0" y="59617"/>
                    <a:pt x="92236" y="0"/>
                    <a:pt x="206242" y="0"/>
                  </a:cubicBezTo>
                  <a:lnTo>
                    <a:pt x="9287742" y="0"/>
                  </a:lnTo>
                  <a:cubicBezTo>
                    <a:pt x="9401557" y="0"/>
                    <a:pt x="9493984" y="59617"/>
                    <a:pt x="9493984" y="133305"/>
                  </a:cubicBezTo>
                  <a:lnTo>
                    <a:pt x="9493984" y="5528110"/>
                  </a:lnTo>
                  <a:cubicBezTo>
                    <a:pt x="9493984" y="5601675"/>
                    <a:pt x="9401748" y="5661416"/>
                    <a:pt x="9287742" y="5661416"/>
                  </a:cubicBezTo>
                  <a:lnTo>
                    <a:pt x="206242" y="5661416"/>
                  </a:lnTo>
                  <a:cubicBezTo>
                    <a:pt x="92427" y="5661416"/>
                    <a:pt x="0" y="5601799"/>
                    <a:pt x="0" y="5528110"/>
                  </a:cubicBezTo>
                  <a:close/>
                </a:path>
              </a:pathLst>
            </a:custGeom>
            <a:solidFill>
              <a:srgbClr val="DFECE9"/>
            </a:solidFill>
            <a:ln w="12700">
              <a:solidFill>
                <a:srgbClr val="000000"/>
              </a:solidFill>
            </a:ln>
          </p:spPr>
        </p:sp>
        <p:sp>
          <p:nvSpPr>
            <p:cNvPr id="12" name="Freeform 9"/>
            <p:cNvSpPr/>
            <p:nvPr/>
          </p:nvSpPr>
          <p:spPr>
            <a:xfrm>
              <a:off x="0" y="0"/>
              <a:ext cx="9513056" cy="5673759"/>
            </a:xfrm>
            <a:custGeom>
              <a:avLst/>
              <a:gdLst/>
              <a:ahLst/>
              <a:cxnLst/>
              <a:rect l="l" t="t" r="r" b="b"/>
              <a:pathLst>
                <a:path w="9513056" h="5673759">
                  <a:moveTo>
                    <a:pt x="0" y="139477"/>
                  </a:moveTo>
                  <a:cubicBezTo>
                    <a:pt x="0" y="62456"/>
                    <a:pt x="96628" y="0"/>
                    <a:pt x="215790" y="0"/>
                  </a:cubicBezTo>
                  <a:lnTo>
                    <a:pt x="9297290" y="0"/>
                  </a:lnTo>
                  <a:lnTo>
                    <a:pt x="9297290" y="6172"/>
                  </a:lnTo>
                  <a:lnTo>
                    <a:pt x="9297290" y="0"/>
                  </a:lnTo>
                  <a:cubicBezTo>
                    <a:pt x="9416452" y="0"/>
                    <a:pt x="9513056" y="62456"/>
                    <a:pt x="9513056" y="139477"/>
                  </a:cubicBezTo>
                  <a:lnTo>
                    <a:pt x="9503532" y="139477"/>
                  </a:lnTo>
                  <a:lnTo>
                    <a:pt x="9513056" y="139477"/>
                  </a:lnTo>
                  <a:lnTo>
                    <a:pt x="9513056" y="5534282"/>
                  </a:lnTo>
                  <a:lnTo>
                    <a:pt x="9503532" y="5534282"/>
                  </a:lnTo>
                  <a:lnTo>
                    <a:pt x="9513056" y="5534282"/>
                  </a:lnTo>
                  <a:cubicBezTo>
                    <a:pt x="9513056" y="5611303"/>
                    <a:pt x="9416452" y="5673759"/>
                    <a:pt x="9297290" y="5673759"/>
                  </a:cubicBezTo>
                  <a:lnTo>
                    <a:pt x="9297290" y="5667588"/>
                  </a:lnTo>
                  <a:lnTo>
                    <a:pt x="9297290" y="5673759"/>
                  </a:lnTo>
                  <a:lnTo>
                    <a:pt x="215790" y="5673759"/>
                  </a:lnTo>
                  <a:lnTo>
                    <a:pt x="215790" y="5667588"/>
                  </a:lnTo>
                  <a:lnTo>
                    <a:pt x="215790" y="5673759"/>
                  </a:lnTo>
                  <a:cubicBezTo>
                    <a:pt x="96628" y="5673759"/>
                    <a:pt x="0" y="5611303"/>
                    <a:pt x="0" y="5534282"/>
                  </a:cubicBezTo>
                  <a:lnTo>
                    <a:pt x="0" y="139477"/>
                  </a:lnTo>
                  <a:lnTo>
                    <a:pt x="9548" y="139477"/>
                  </a:lnTo>
                  <a:lnTo>
                    <a:pt x="0" y="139477"/>
                  </a:lnTo>
                  <a:moveTo>
                    <a:pt x="19096" y="139477"/>
                  </a:moveTo>
                  <a:lnTo>
                    <a:pt x="19096" y="5534282"/>
                  </a:lnTo>
                  <a:lnTo>
                    <a:pt x="9548" y="5534282"/>
                  </a:lnTo>
                  <a:lnTo>
                    <a:pt x="19096" y="5534282"/>
                  </a:lnTo>
                  <a:cubicBezTo>
                    <a:pt x="19096" y="5604514"/>
                    <a:pt x="107131" y="5661416"/>
                    <a:pt x="215790" y="5661416"/>
                  </a:cubicBezTo>
                  <a:lnTo>
                    <a:pt x="9297290" y="5661416"/>
                  </a:lnTo>
                  <a:cubicBezTo>
                    <a:pt x="9405949" y="5661416"/>
                    <a:pt x="9493983" y="5604514"/>
                    <a:pt x="9493983" y="5534282"/>
                  </a:cubicBezTo>
                  <a:lnTo>
                    <a:pt x="9493983" y="139477"/>
                  </a:lnTo>
                  <a:cubicBezTo>
                    <a:pt x="9493983" y="69245"/>
                    <a:pt x="9405949" y="12343"/>
                    <a:pt x="9297290" y="12343"/>
                  </a:cubicBezTo>
                  <a:lnTo>
                    <a:pt x="215790" y="12343"/>
                  </a:lnTo>
                  <a:lnTo>
                    <a:pt x="215790" y="6172"/>
                  </a:lnTo>
                  <a:lnTo>
                    <a:pt x="215790" y="12343"/>
                  </a:lnTo>
                  <a:cubicBezTo>
                    <a:pt x="107131" y="12343"/>
                    <a:pt x="19096" y="69245"/>
                    <a:pt x="19096" y="139477"/>
                  </a:cubicBezTo>
                  <a:close/>
                </a:path>
              </a:pathLst>
            </a:custGeom>
            <a:solidFill>
              <a:srgbClr val="C5D2C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Rectangle 3"/>
          <p:cNvSpPr/>
          <p:nvPr/>
        </p:nvSpPr>
        <p:spPr>
          <a:xfrm>
            <a:off x="1631066" y="1374076"/>
            <a:ext cx="15653222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Martel Sans" panose="020B0604020202020204" charset="0"/>
                <a:cs typeface="Martel Sans" panose="020B0604020202020204" charset="0"/>
              </a:rPr>
              <a:t>To analyze ATM withdrawal patterns and determine how much cash should be maintained in each ATM at different times.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Martel Sans" panose="020B0604020202020204" charset="0"/>
                <a:cs typeface="Martel Sans" panose="020B0604020202020204" charset="0"/>
              </a:rPr>
              <a:t>To identify the most efficient schedule for refilling ATMs to reduce operational cost and improve service availability.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Martel Sans" panose="020B0604020202020204" charset="0"/>
                <a:cs typeface="Martel Sans" panose="020B0604020202020204" charset="0"/>
              </a:rPr>
              <a:t>To understand the ATM usage challenges faced by women and explore ways to make ATM transactions safer and more comfortable for them.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Martel Sans" panose="020B0604020202020204" charset="0"/>
                <a:cs typeface="Martel Sans" panose="020B0604020202020204" charset="0"/>
              </a:rPr>
              <a:t>To examine the ATM difficulties experienced by senior citizens and suggest improvements to make ATM services easier and more </a:t>
            </a:r>
            <a:endParaRPr lang="en-US" dirty="0" smtClean="0">
              <a:solidFill>
                <a:schemeClr val="tx2">
                  <a:lumMod val="50000"/>
                </a:schemeClr>
              </a:solidFill>
              <a:latin typeface="Martel Sans" panose="020B0604020202020204" charset="0"/>
              <a:cs typeface="Martel Sans" panose="020B0604020202020204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Martel Sans" panose="020B0604020202020204" charset="0"/>
                <a:cs typeface="Martel Sans" panose="020B0604020202020204" charset="0"/>
              </a:rPr>
              <a:t>To propose customer-centric innovations that improve ATM safety, accessibility, and convenience for women and senior citizens based on ATM service usage insights.</a:t>
            </a:r>
          </a:p>
        </p:txBody>
      </p:sp>
      <p:sp>
        <p:nvSpPr>
          <p:cNvPr id="13" name="TextBox 16"/>
          <p:cNvSpPr txBox="1"/>
          <p:nvPr/>
        </p:nvSpPr>
        <p:spPr>
          <a:xfrm>
            <a:off x="921692" y="4930572"/>
            <a:ext cx="9746308" cy="1585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37"/>
              </a:lnSpc>
            </a:pPr>
            <a:r>
              <a:rPr lang="en-US" sz="5400" dirty="0" smtClean="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Future </a:t>
            </a:r>
            <a:r>
              <a:rPr lang="en-US" sz="5400" dirty="0" smtClean="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Innovation</a:t>
            </a:r>
          </a:p>
          <a:p>
            <a:pPr>
              <a:lnSpc>
                <a:spcPts val="6437"/>
              </a:lnSpc>
            </a:pPr>
            <a:r>
              <a:rPr lang="en-US" sz="5125" dirty="0" smtClean="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lang="en-US" sz="5125" dirty="0">
              <a:solidFill>
                <a:srgbClr val="272D4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14" name="Group 7"/>
          <p:cNvGrpSpPr/>
          <p:nvPr/>
        </p:nvGrpSpPr>
        <p:grpSpPr>
          <a:xfrm>
            <a:off x="1309778" y="6924251"/>
            <a:ext cx="7972154" cy="3034427"/>
            <a:chOff x="0" y="0"/>
            <a:chExt cx="9513009" cy="5673783"/>
          </a:xfrm>
        </p:grpSpPr>
        <p:sp>
          <p:nvSpPr>
            <p:cNvPr id="15" name="Freeform 8"/>
            <p:cNvSpPr/>
            <p:nvPr/>
          </p:nvSpPr>
          <p:spPr>
            <a:xfrm>
              <a:off x="9548" y="6172"/>
              <a:ext cx="9493983" cy="5661416"/>
            </a:xfrm>
            <a:custGeom>
              <a:avLst/>
              <a:gdLst/>
              <a:ahLst/>
              <a:cxnLst/>
              <a:rect l="l" t="t" r="r" b="b"/>
              <a:pathLst>
                <a:path w="9493983" h="5661416">
                  <a:moveTo>
                    <a:pt x="0" y="133305"/>
                  </a:moveTo>
                  <a:cubicBezTo>
                    <a:pt x="0" y="59617"/>
                    <a:pt x="92236" y="0"/>
                    <a:pt x="206242" y="0"/>
                  </a:cubicBezTo>
                  <a:lnTo>
                    <a:pt x="9287742" y="0"/>
                  </a:lnTo>
                  <a:cubicBezTo>
                    <a:pt x="9401557" y="0"/>
                    <a:pt x="9493984" y="59617"/>
                    <a:pt x="9493984" y="133305"/>
                  </a:cubicBezTo>
                  <a:lnTo>
                    <a:pt x="9493984" y="5528110"/>
                  </a:lnTo>
                  <a:cubicBezTo>
                    <a:pt x="9493984" y="5601675"/>
                    <a:pt x="9401748" y="5661416"/>
                    <a:pt x="9287742" y="5661416"/>
                  </a:cubicBezTo>
                  <a:lnTo>
                    <a:pt x="206242" y="5661416"/>
                  </a:lnTo>
                  <a:cubicBezTo>
                    <a:pt x="92427" y="5661416"/>
                    <a:pt x="0" y="5601799"/>
                    <a:pt x="0" y="5528110"/>
                  </a:cubicBezTo>
                  <a:close/>
                </a:path>
              </a:pathLst>
            </a:custGeom>
            <a:solidFill>
              <a:srgbClr val="DFECE9"/>
            </a:solidFill>
            <a:ln w="12700">
              <a:solidFill>
                <a:srgbClr val="000000"/>
              </a:solidFill>
            </a:ln>
          </p:spPr>
        </p:sp>
        <p:sp>
          <p:nvSpPr>
            <p:cNvPr id="16" name="Freeform 9"/>
            <p:cNvSpPr/>
            <p:nvPr/>
          </p:nvSpPr>
          <p:spPr>
            <a:xfrm>
              <a:off x="0" y="0"/>
              <a:ext cx="9513056" cy="5673759"/>
            </a:xfrm>
            <a:custGeom>
              <a:avLst/>
              <a:gdLst/>
              <a:ahLst/>
              <a:cxnLst/>
              <a:rect l="l" t="t" r="r" b="b"/>
              <a:pathLst>
                <a:path w="9513056" h="5673759">
                  <a:moveTo>
                    <a:pt x="0" y="139477"/>
                  </a:moveTo>
                  <a:cubicBezTo>
                    <a:pt x="0" y="62456"/>
                    <a:pt x="96628" y="0"/>
                    <a:pt x="215790" y="0"/>
                  </a:cubicBezTo>
                  <a:lnTo>
                    <a:pt x="9297290" y="0"/>
                  </a:lnTo>
                  <a:lnTo>
                    <a:pt x="9297290" y="6172"/>
                  </a:lnTo>
                  <a:lnTo>
                    <a:pt x="9297290" y="0"/>
                  </a:lnTo>
                  <a:cubicBezTo>
                    <a:pt x="9416452" y="0"/>
                    <a:pt x="9513056" y="62456"/>
                    <a:pt x="9513056" y="139477"/>
                  </a:cubicBezTo>
                  <a:lnTo>
                    <a:pt x="9503532" y="139477"/>
                  </a:lnTo>
                  <a:lnTo>
                    <a:pt x="9513056" y="139477"/>
                  </a:lnTo>
                  <a:lnTo>
                    <a:pt x="9513056" y="5534282"/>
                  </a:lnTo>
                  <a:lnTo>
                    <a:pt x="9503532" y="5534282"/>
                  </a:lnTo>
                  <a:lnTo>
                    <a:pt x="9513056" y="5534282"/>
                  </a:lnTo>
                  <a:cubicBezTo>
                    <a:pt x="9513056" y="5611303"/>
                    <a:pt x="9416452" y="5673759"/>
                    <a:pt x="9297290" y="5673759"/>
                  </a:cubicBezTo>
                  <a:lnTo>
                    <a:pt x="9297290" y="5667588"/>
                  </a:lnTo>
                  <a:lnTo>
                    <a:pt x="9297290" y="5673759"/>
                  </a:lnTo>
                  <a:lnTo>
                    <a:pt x="215790" y="5673759"/>
                  </a:lnTo>
                  <a:lnTo>
                    <a:pt x="215790" y="5667588"/>
                  </a:lnTo>
                  <a:lnTo>
                    <a:pt x="215790" y="5673759"/>
                  </a:lnTo>
                  <a:cubicBezTo>
                    <a:pt x="96628" y="5673759"/>
                    <a:pt x="0" y="5611303"/>
                    <a:pt x="0" y="5534282"/>
                  </a:cubicBezTo>
                  <a:lnTo>
                    <a:pt x="0" y="139477"/>
                  </a:lnTo>
                  <a:lnTo>
                    <a:pt x="9548" y="139477"/>
                  </a:lnTo>
                  <a:lnTo>
                    <a:pt x="0" y="139477"/>
                  </a:lnTo>
                  <a:moveTo>
                    <a:pt x="19096" y="139477"/>
                  </a:moveTo>
                  <a:lnTo>
                    <a:pt x="19096" y="5534282"/>
                  </a:lnTo>
                  <a:lnTo>
                    <a:pt x="9548" y="5534282"/>
                  </a:lnTo>
                  <a:lnTo>
                    <a:pt x="19096" y="5534282"/>
                  </a:lnTo>
                  <a:cubicBezTo>
                    <a:pt x="19096" y="5604514"/>
                    <a:pt x="107131" y="5661416"/>
                    <a:pt x="215790" y="5661416"/>
                  </a:cubicBezTo>
                  <a:lnTo>
                    <a:pt x="9297290" y="5661416"/>
                  </a:lnTo>
                  <a:cubicBezTo>
                    <a:pt x="9405949" y="5661416"/>
                    <a:pt x="9493983" y="5604514"/>
                    <a:pt x="9493983" y="5534282"/>
                  </a:cubicBezTo>
                  <a:lnTo>
                    <a:pt x="9493983" y="139477"/>
                  </a:lnTo>
                  <a:cubicBezTo>
                    <a:pt x="9493983" y="69245"/>
                    <a:pt x="9405949" y="12343"/>
                    <a:pt x="9297290" y="12343"/>
                  </a:cubicBezTo>
                  <a:lnTo>
                    <a:pt x="215790" y="12343"/>
                  </a:lnTo>
                  <a:lnTo>
                    <a:pt x="215790" y="6172"/>
                  </a:lnTo>
                  <a:lnTo>
                    <a:pt x="215790" y="12343"/>
                  </a:lnTo>
                  <a:cubicBezTo>
                    <a:pt x="107131" y="12343"/>
                    <a:pt x="19096" y="69245"/>
                    <a:pt x="19096" y="139477"/>
                  </a:cubicBezTo>
                  <a:close/>
                </a:path>
              </a:pathLst>
            </a:custGeom>
            <a:solidFill>
              <a:srgbClr val="C5D2C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7" name="Rectangle 16"/>
          <p:cNvSpPr/>
          <p:nvPr/>
        </p:nvSpPr>
        <p:spPr>
          <a:xfrm>
            <a:off x="1631066" y="7609578"/>
            <a:ext cx="7315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A new ATM card can be introduced especially for women to provide a safer and more comfortable ATM experience.</a:t>
            </a:r>
            <a:br>
              <a:rPr lang="en-US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Key features can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Safe ATM locator to suggest nearby secure ATM locations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Night-time emergency support (SMS alert or help button)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Priority ATM queue access during rush hours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Exclusive cashback/rewards for women-focused purchases</a:t>
            </a:r>
          </a:p>
        </p:txBody>
      </p:sp>
      <p:sp>
        <p:nvSpPr>
          <p:cNvPr id="18" name="TextBox 13"/>
          <p:cNvSpPr txBox="1"/>
          <p:nvPr/>
        </p:nvSpPr>
        <p:spPr>
          <a:xfrm>
            <a:off x="1631066" y="7159149"/>
            <a:ext cx="43434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dirty="0" smtClean="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Pink ATM Card for women</a:t>
            </a:r>
            <a:endParaRPr lang="en-US" sz="2375" dirty="0">
              <a:solidFill>
                <a:srgbClr val="2C324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19" name="Group 7"/>
          <p:cNvGrpSpPr/>
          <p:nvPr/>
        </p:nvGrpSpPr>
        <p:grpSpPr>
          <a:xfrm>
            <a:off x="9640592" y="6924251"/>
            <a:ext cx="7972154" cy="2992396"/>
            <a:chOff x="0" y="0"/>
            <a:chExt cx="9513009" cy="5673783"/>
          </a:xfrm>
        </p:grpSpPr>
        <p:sp>
          <p:nvSpPr>
            <p:cNvPr id="20" name="Freeform 8"/>
            <p:cNvSpPr/>
            <p:nvPr/>
          </p:nvSpPr>
          <p:spPr>
            <a:xfrm>
              <a:off x="9548" y="6172"/>
              <a:ext cx="9493983" cy="5661416"/>
            </a:xfrm>
            <a:custGeom>
              <a:avLst/>
              <a:gdLst/>
              <a:ahLst/>
              <a:cxnLst/>
              <a:rect l="l" t="t" r="r" b="b"/>
              <a:pathLst>
                <a:path w="9493983" h="5661416">
                  <a:moveTo>
                    <a:pt x="0" y="133305"/>
                  </a:moveTo>
                  <a:cubicBezTo>
                    <a:pt x="0" y="59617"/>
                    <a:pt x="92236" y="0"/>
                    <a:pt x="206242" y="0"/>
                  </a:cubicBezTo>
                  <a:lnTo>
                    <a:pt x="9287742" y="0"/>
                  </a:lnTo>
                  <a:cubicBezTo>
                    <a:pt x="9401557" y="0"/>
                    <a:pt x="9493984" y="59617"/>
                    <a:pt x="9493984" y="133305"/>
                  </a:cubicBezTo>
                  <a:lnTo>
                    <a:pt x="9493984" y="5528110"/>
                  </a:lnTo>
                  <a:cubicBezTo>
                    <a:pt x="9493984" y="5601675"/>
                    <a:pt x="9401748" y="5661416"/>
                    <a:pt x="9287742" y="5661416"/>
                  </a:cubicBezTo>
                  <a:lnTo>
                    <a:pt x="206242" y="5661416"/>
                  </a:lnTo>
                  <a:cubicBezTo>
                    <a:pt x="92427" y="5661416"/>
                    <a:pt x="0" y="5601799"/>
                    <a:pt x="0" y="5528110"/>
                  </a:cubicBezTo>
                  <a:close/>
                </a:path>
              </a:pathLst>
            </a:custGeom>
            <a:solidFill>
              <a:srgbClr val="DFECE9"/>
            </a:solidFill>
            <a:ln w="12700">
              <a:solidFill>
                <a:srgbClr val="000000"/>
              </a:solidFill>
            </a:ln>
          </p:spPr>
        </p:sp>
        <p:sp>
          <p:nvSpPr>
            <p:cNvPr id="21" name="Freeform 9"/>
            <p:cNvSpPr/>
            <p:nvPr/>
          </p:nvSpPr>
          <p:spPr>
            <a:xfrm>
              <a:off x="0" y="0"/>
              <a:ext cx="9513056" cy="5673759"/>
            </a:xfrm>
            <a:custGeom>
              <a:avLst/>
              <a:gdLst/>
              <a:ahLst/>
              <a:cxnLst/>
              <a:rect l="l" t="t" r="r" b="b"/>
              <a:pathLst>
                <a:path w="9513056" h="5673759">
                  <a:moveTo>
                    <a:pt x="0" y="139477"/>
                  </a:moveTo>
                  <a:cubicBezTo>
                    <a:pt x="0" y="62456"/>
                    <a:pt x="96628" y="0"/>
                    <a:pt x="215790" y="0"/>
                  </a:cubicBezTo>
                  <a:lnTo>
                    <a:pt x="9297290" y="0"/>
                  </a:lnTo>
                  <a:lnTo>
                    <a:pt x="9297290" y="6172"/>
                  </a:lnTo>
                  <a:lnTo>
                    <a:pt x="9297290" y="0"/>
                  </a:lnTo>
                  <a:cubicBezTo>
                    <a:pt x="9416452" y="0"/>
                    <a:pt x="9513056" y="62456"/>
                    <a:pt x="9513056" y="139477"/>
                  </a:cubicBezTo>
                  <a:lnTo>
                    <a:pt x="9503532" y="139477"/>
                  </a:lnTo>
                  <a:lnTo>
                    <a:pt x="9513056" y="139477"/>
                  </a:lnTo>
                  <a:lnTo>
                    <a:pt x="9513056" y="5534282"/>
                  </a:lnTo>
                  <a:lnTo>
                    <a:pt x="9503532" y="5534282"/>
                  </a:lnTo>
                  <a:lnTo>
                    <a:pt x="9513056" y="5534282"/>
                  </a:lnTo>
                  <a:cubicBezTo>
                    <a:pt x="9513056" y="5611303"/>
                    <a:pt x="9416452" y="5673759"/>
                    <a:pt x="9297290" y="5673759"/>
                  </a:cubicBezTo>
                  <a:lnTo>
                    <a:pt x="9297290" y="5667588"/>
                  </a:lnTo>
                  <a:lnTo>
                    <a:pt x="9297290" y="5673759"/>
                  </a:lnTo>
                  <a:lnTo>
                    <a:pt x="215790" y="5673759"/>
                  </a:lnTo>
                  <a:lnTo>
                    <a:pt x="215790" y="5667588"/>
                  </a:lnTo>
                  <a:lnTo>
                    <a:pt x="215790" y="5673759"/>
                  </a:lnTo>
                  <a:cubicBezTo>
                    <a:pt x="96628" y="5673759"/>
                    <a:pt x="0" y="5611303"/>
                    <a:pt x="0" y="5534282"/>
                  </a:cubicBezTo>
                  <a:lnTo>
                    <a:pt x="0" y="139477"/>
                  </a:lnTo>
                  <a:lnTo>
                    <a:pt x="9548" y="139477"/>
                  </a:lnTo>
                  <a:lnTo>
                    <a:pt x="0" y="139477"/>
                  </a:lnTo>
                  <a:moveTo>
                    <a:pt x="19096" y="139477"/>
                  </a:moveTo>
                  <a:lnTo>
                    <a:pt x="19096" y="5534282"/>
                  </a:lnTo>
                  <a:lnTo>
                    <a:pt x="9548" y="5534282"/>
                  </a:lnTo>
                  <a:lnTo>
                    <a:pt x="19096" y="5534282"/>
                  </a:lnTo>
                  <a:cubicBezTo>
                    <a:pt x="19096" y="5604514"/>
                    <a:pt x="107131" y="5661416"/>
                    <a:pt x="215790" y="5661416"/>
                  </a:cubicBezTo>
                  <a:lnTo>
                    <a:pt x="9297290" y="5661416"/>
                  </a:lnTo>
                  <a:cubicBezTo>
                    <a:pt x="9405949" y="5661416"/>
                    <a:pt x="9493983" y="5604514"/>
                    <a:pt x="9493983" y="5534282"/>
                  </a:cubicBezTo>
                  <a:lnTo>
                    <a:pt x="9493983" y="139477"/>
                  </a:lnTo>
                  <a:cubicBezTo>
                    <a:pt x="9493983" y="69245"/>
                    <a:pt x="9405949" y="12343"/>
                    <a:pt x="9297290" y="12343"/>
                  </a:cubicBezTo>
                  <a:lnTo>
                    <a:pt x="215790" y="12343"/>
                  </a:lnTo>
                  <a:lnTo>
                    <a:pt x="215790" y="6172"/>
                  </a:lnTo>
                  <a:lnTo>
                    <a:pt x="215790" y="12343"/>
                  </a:lnTo>
                  <a:cubicBezTo>
                    <a:pt x="107131" y="12343"/>
                    <a:pt x="19096" y="69245"/>
                    <a:pt x="19096" y="139477"/>
                  </a:cubicBezTo>
                  <a:close/>
                </a:path>
              </a:pathLst>
            </a:custGeom>
            <a:solidFill>
              <a:srgbClr val="C5D2C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2" name="Rectangle 21"/>
          <p:cNvSpPr/>
          <p:nvPr/>
        </p:nvSpPr>
        <p:spPr>
          <a:xfrm>
            <a:off x="9969088" y="7658100"/>
            <a:ext cx="7315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A dedicated ATM card designed to make ATM transactions easier for senior citizens.</a:t>
            </a:r>
            <a:br>
              <a:rPr lang="en-US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Key features can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Fast-track priority ATM service (reduced waiting time)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Larger font display when the card is used at the ATM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Simplified ATM steps for faster cash withdrawal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Option for limited manual assistance if needed</a:t>
            </a:r>
          </a:p>
        </p:txBody>
      </p:sp>
      <p:sp>
        <p:nvSpPr>
          <p:cNvPr id="23" name="TextBox 13"/>
          <p:cNvSpPr txBox="1"/>
          <p:nvPr/>
        </p:nvSpPr>
        <p:spPr>
          <a:xfrm>
            <a:off x="9874521" y="7165288"/>
            <a:ext cx="502920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dirty="0" smtClean="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Priority ATM Card for Senior Citizen</a:t>
            </a:r>
            <a:endParaRPr lang="en-US" sz="2375" dirty="0">
              <a:solidFill>
                <a:srgbClr val="2C324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" name="TextBox 13"/>
          <p:cNvSpPr txBox="1"/>
          <p:nvPr/>
        </p:nvSpPr>
        <p:spPr>
          <a:xfrm>
            <a:off x="1415755" y="5904245"/>
            <a:ext cx="16168266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sz="2375" dirty="0">
                <a:solidFill>
                  <a:srgbClr val="2C3249"/>
                </a:solidFill>
                <a:latin typeface="Arimo"/>
                <a:ea typeface="Arimo"/>
                <a:cs typeface="Arimo"/>
              </a:rPr>
              <a:t>Based on ATM withdrawal trends, refill analysis, and customer service requirements, the following innovations are proposed to improve ATM accessibility, safety, and user experience.</a:t>
            </a:r>
            <a:endParaRPr lang="en-US" sz="2375" dirty="0">
              <a:solidFill>
                <a:srgbClr val="2C3249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68153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24776" y="2425347"/>
            <a:ext cx="9224980" cy="5744918"/>
            <a:chOff x="0" y="0"/>
            <a:chExt cx="1429191" cy="8178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9191" cy="817822"/>
            </a:xfrm>
            <a:custGeom>
              <a:avLst/>
              <a:gdLst/>
              <a:ahLst/>
              <a:cxnLst/>
              <a:rect l="l" t="t" r="r" b="b"/>
              <a:pathLst>
                <a:path w="1429191" h="817822">
                  <a:moveTo>
                    <a:pt x="0" y="0"/>
                  </a:moveTo>
                  <a:lnTo>
                    <a:pt x="1429191" y="0"/>
                  </a:lnTo>
                  <a:lnTo>
                    <a:pt x="1429191" y="817822"/>
                  </a:lnTo>
                  <a:lnTo>
                    <a:pt x="0" y="817822"/>
                  </a:lnTo>
                  <a:close/>
                </a:path>
              </a:pathLst>
            </a:custGeom>
            <a:blipFill>
              <a:blip r:embed="rId3"/>
              <a:stretch>
                <a:fillRect l="-7652" r="-765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872101" y="770266"/>
            <a:ext cx="10786499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5062" dirty="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Dataset Description &amp; Sample Data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2101" y="2664599"/>
            <a:ext cx="7162219" cy="1062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1800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The dataset, sourced from an online Excel file, comprises over </a:t>
            </a:r>
            <a:r>
              <a:rPr lang="en-US" sz="1800" b="1" dirty="0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200 rows</a:t>
            </a:r>
            <a:r>
              <a:rPr lang="en-US" sz="1800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, with each row detailing transactions for a single ATM on a specific date. This rich data is instrumental for: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6373" y="3871435"/>
            <a:ext cx="7927627" cy="33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1462" lvl="1" indent="-135731" algn="l">
              <a:lnSpc>
                <a:spcPts val="2868"/>
              </a:lnSpc>
              <a:buFont typeface="Arial"/>
              <a:buChar char="•"/>
            </a:pPr>
            <a:r>
              <a:rPr lang="en-US" sz="1800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Analyzing cash withdrawal patterns.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6373" y="5128499"/>
            <a:ext cx="6611125" cy="33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1462" lvl="1" indent="-135731" algn="l">
              <a:lnSpc>
                <a:spcPts val="2868"/>
              </a:lnSpc>
              <a:buFont typeface="Arial"/>
              <a:buChar char="•"/>
            </a:pPr>
            <a:r>
              <a:rPr lang="en-US" sz="1800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Predicting future refill needs and overall cash demand.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6373" y="4352923"/>
            <a:ext cx="6817947" cy="700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1462" lvl="1" indent="-135731" algn="l">
              <a:lnSpc>
                <a:spcPts val="2868"/>
              </a:lnSpc>
              <a:buFont typeface="Arial"/>
              <a:buChar char="•"/>
            </a:pPr>
            <a:r>
              <a:rPr lang="en-US" sz="1800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Building an interactive Power BI dashboard for actionable insights.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8476192"/>
            <a:ext cx="7986532" cy="2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Sample of raw ATM transaction data (Excel)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2101" y="5908909"/>
            <a:ext cx="6611125" cy="223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1800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Main columns:</a:t>
            </a:r>
          </a:p>
          <a:p>
            <a:pPr marL="271348" lvl="1" indent="-135674" algn="l">
              <a:lnSpc>
                <a:spcPts val="2867"/>
              </a:lnSpc>
              <a:buFont typeface="Arial"/>
              <a:buChar char="•"/>
            </a:pPr>
            <a:r>
              <a:rPr lang="en-US" sz="1800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ATM_ID – unique ATM identifier</a:t>
            </a:r>
          </a:p>
          <a:p>
            <a:pPr marL="271348" lvl="1" indent="-135674" algn="l">
              <a:lnSpc>
                <a:spcPts val="2867"/>
              </a:lnSpc>
              <a:buFont typeface="Arial"/>
              <a:buChar char="•"/>
            </a:pPr>
            <a:r>
              <a:rPr lang="en-US" sz="1800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Date – transaction date</a:t>
            </a:r>
          </a:p>
          <a:p>
            <a:pPr marL="271348" lvl="1" indent="-135674" algn="l">
              <a:lnSpc>
                <a:spcPts val="2867"/>
              </a:lnSpc>
              <a:buFont typeface="Arial"/>
              <a:buChar char="•"/>
            </a:pPr>
            <a:r>
              <a:rPr lang="en-US" sz="1800" dirty="0" smtClean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Cash Withdrawn </a:t>
            </a:r>
            <a:r>
              <a:rPr lang="en-US" sz="1800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– total amount withdrawn</a:t>
            </a:r>
          </a:p>
          <a:p>
            <a:pPr marL="271348" lvl="1" indent="-135674" algn="l">
              <a:lnSpc>
                <a:spcPts val="2867"/>
              </a:lnSpc>
              <a:buFont typeface="Arial"/>
              <a:buChar char="•"/>
            </a:pPr>
            <a:r>
              <a:rPr lang="en-US" sz="1800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refill_needed_flag – 1 if refill needed, 0 otherwise</a:t>
            </a:r>
          </a:p>
          <a:p>
            <a:pPr algn="l">
              <a:lnSpc>
                <a:spcPts val="2868"/>
              </a:lnSpc>
            </a:pPr>
            <a:endParaRPr lang="en-US" sz="1800" dirty="0">
              <a:solidFill>
                <a:srgbClr val="2C3249"/>
              </a:solidFill>
              <a:latin typeface="Martel Sans"/>
              <a:ea typeface="Martel Sans"/>
              <a:cs typeface="Martel Sans"/>
              <a:sym typeface="Marte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857101" y="626120"/>
            <a:ext cx="930032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 dirty="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Tools &amp; Technologies Used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11449" y="1770949"/>
            <a:ext cx="7036295" cy="3601151"/>
            <a:chOff x="0" y="0"/>
            <a:chExt cx="9513009" cy="5673783"/>
          </a:xfrm>
        </p:grpSpPr>
        <p:sp>
          <p:nvSpPr>
            <p:cNvPr id="8" name="Freeform 8"/>
            <p:cNvSpPr/>
            <p:nvPr/>
          </p:nvSpPr>
          <p:spPr>
            <a:xfrm>
              <a:off x="9548" y="6172"/>
              <a:ext cx="9493983" cy="5661416"/>
            </a:xfrm>
            <a:custGeom>
              <a:avLst/>
              <a:gdLst/>
              <a:ahLst/>
              <a:cxnLst/>
              <a:rect l="l" t="t" r="r" b="b"/>
              <a:pathLst>
                <a:path w="9493983" h="5661416">
                  <a:moveTo>
                    <a:pt x="0" y="133305"/>
                  </a:moveTo>
                  <a:cubicBezTo>
                    <a:pt x="0" y="59617"/>
                    <a:pt x="92236" y="0"/>
                    <a:pt x="206242" y="0"/>
                  </a:cubicBezTo>
                  <a:lnTo>
                    <a:pt x="9287742" y="0"/>
                  </a:lnTo>
                  <a:cubicBezTo>
                    <a:pt x="9401557" y="0"/>
                    <a:pt x="9493984" y="59617"/>
                    <a:pt x="9493984" y="133305"/>
                  </a:cubicBezTo>
                  <a:lnTo>
                    <a:pt x="9493984" y="5528110"/>
                  </a:lnTo>
                  <a:cubicBezTo>
                    <a:pt x="9493984" y="5601675"/>
                    <a:pt x="9401748" y="5661416"/>
                    <a:pt x="9287742" y="5661416"/>
                  </a:cubicBezTo>
                  <a:lnTo>
                    <a:pt x="206242" y="5661416"/>
                  </a:lnTo>
                  <a:cubicBezTo>
                    <a:pt x="92427" y="5661416"/>
                    <a:pt x="0" y="5601799"/>
                    <a:pt x="0" y="5528110"/>
                  </a:cubicBezTo>
                  <a:close/>
                </a:path>
              </a:pathLst>
            </a:custGeom>
            <a:solidFill>
              <a:srgbClr val="DFECE9"/>
            </a:solidFill>
            <a:ln w="12700">
              <a:solidFill>
                <a:srgbClr val="00000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9513056" cy="5673759"/>
            </a:xfrm>
            <a:custGeom>
              <a:avLst/>
              <a:gdLst/>
              <a:ahLst/>
              <a:cxnLst/>
              <a:rect l="l" t="t" r="r" b="b"/>
              <a:pathLst>
                <a:path w="9513056" h="5673759">
                  <a:moveTo>
                    <a:pt x="0" y="139477"/>
                  </a:moveTo>
                  <a:cubicBezTo>
                    <a:pt x="0" y="62456"/>
                    <a:pt x="96628" y="0"/>
                    <a:pt x="215790" y="0"/>
                  </a:cubicBezTo>
                  <a:lnTo>
                    <a:pt x="9297290" y="0"/>
                  </a:lnTo>
                  <a:lnTo>
                    <a:pt x="9297290" y="6172"/>
                  </a:lnTo>
                  <a:lnTo>
                    <a:pt x="9297290" y="0"/>
                  </a:lnTo>
                  <a:cubicBezTo>
                    <a:pt x="9416452" y="0"/>
                    <a:pt x="9513056" y="62456"/>
                    <a:pt x="9513056" y="139477"/>
                  </a:cubicBezTo>
                  <a:lnTo>
                    <a:pt x="9503532" y="139477"/>
                  </a:lnTo>
                  <a:lnTo>
                    <a:pt x="9513056" y="139477"/>
                  </a:lnTo>
                  <a:lnTo>
                    <a:pt x="9513056" y="5534282"/>
                  </a:lnTo>
                  <a:lnTo>
                    <a:pt x="9503532" y="5534282"/>
                  </a:lnTo>
                  <a:lnTo>
                    <a:pt x="9513056" y="5534282"/>
                  </a:lnTo>
                  <a:cubicBezTo>
                    <a:pt x="9513056" y="5611303"/>
                    <a:pt x="9416452" y="5673759"/>
                    <a:pt x="9297290" y="5673759"/>
                  </a:cubicBezTo>
                  <a:lnTo>
                    <a:pt x="9297290" y="5667588"/>
                  </a:lnTo>
                  <a:lnTo>
                    <a:pt x="9297290" y="5673759"/>
                  </a:lnTo>
                  <a:lnTo>
                    <a:pt x="215790" y="5673759"/>
                  </a:lnTo>
                  <a:lnTo>
                    <a:pt x="215790" y="5667588"/>
                  </a:lnTo>
                  <a:lnTo>
                    <a:pt x="215790" y="5673759"/>
                  </a:lnTo>
                  <a:cubicBezTo>
                    <a:pt x="96628" y="5673759"/>
                    <a:pt x="0" y="5611303"/>
                    <a:pt x="0" y="5534282"/>
                  </a:cubicBezTo>
                  <a:lnTo>
                    <a:pt x="0" y="139477"/>
                  </a:lnTo>
                  <a:lnTo>
                    <a:pt x="9548" y="139477"/>
                  </a:lnTo>
                  <a:lnTo>
                    <a:pt x="0" y="139477"/>
                  </a:lnTo>
                  <a:moveTo>
                    <a:pt x="19096" y="139477"/>
                  </a:moveTo>
                  <a:lnTo>
                    <a:pt x="19096" y="5534282"/>
                  </a:lnTo>
                  <a:lnTo>
                    <a:pt x="9548" y="5534282"/>
                  </a:lnTo>
                  <a:lnTo>
                    <a:pt x="19096" y="5534282"/>
                  </a:lnTo>
                  <a:cubicBezTo>
                    <a:pt x="19096" y="5604514"/>
                    <a:pt x="107131" y="5661416"/>
                    <a:pt x="215790" y="5661416"/>
                  </a:cubicBezTo>
                  <a:lnTo>
                    <a:pt x="9297290" y="5661416"/>
                  </a:lnTo>
                  <a:cubicBezTo>
                    <a:pt x="9405949" y="5661416"/>
                    <a:pt x="9493983" y="5604514"/>
                    <a:pt x="9493983" y="5534282"/>
                  </a:cubicBezTo>
                  <a:lnTo>
                    <a:pt x="9493983" y="139477"/>
                  </a:lnTo>
                  <a:cubicBezTo>
                    <a:pt x="9493983" y="69245"/>
                    <a:pt x="9405949" y="12343"/>
                    <a:pt x="9297290" y="12343"/>
                  </a:cubicBezTo>
                  <a:lnTo>
                    <a:pt x="215790" y="12343"/>
                  </a:lnTo>
                  <a:lnTo>
                    <a:pt x="215790" y="6172"/>
                  </a:lnTo>
                  <a:lnTo>
                    <a:pt x="215790" y="12343"/>
                  </a:lnTo>
                  <a:cubicBezTo>
                    <a:pt x="107131" y="12343"/>
                    <a:pt x="19096" y="69245"/>
                    <a:pt x="19096" y="139477"/>
                  </a:cubicBezTo>
                  <a:close/>
                </a:path>
              </a:pathLst>
            </a:custGeom>
            <a:solidFill>
              <a:srgbClr val="C5D2C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478682" y="1993181"/>
            <a:ext cx="734616" cy="734616"/>
            <a:chOff x="0" y="0"/>
            <a:chExt cx="979488" cy="9794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79551" cy="979551"/>
            </a:xfrm>
            <a:custGeom>
              <a:avLst/>
              <a:gdLst/>
              <a:ahLst/>
              <a:cxnLst/>
              <a:rect l="l" t="t" r="r" b="b"/>
              <a:pathLst>
                <a:path w="979551" h="979551">
                  <a:moveTo>
                    <a:pt x="0" y="489712"/>
                  </a:moveTo>
                  <a:cubicBezTo>
                    <a:pt x="0" y="219329"/>
                    <a:pt x="219329" y="0"/>
                    <a:pt x="489712" y="0"/>
                  </a:cubicBezTo>
                  <a:cubicBezTo>
                    <a:pt x="760095" y="0"/>
                    <a:pt x="979551" y="219329"/>
                    <a:pt x="979551" y="489712"/>
                  </a:cubicBezTo>
                  <a:cubicBezTo>
                    <a:pt x="979551" y="760095"/>
                    <a:pt x="760222" y="979551"/>
                    <a:pt x="489712" y="979551"/>
                  </a:cubicBezTo>
                  <a:cubicBezTo>
                    <a:pt x="219202" y="979551"/>
                    <a:pt x="0" y="760222"/>
                    <a:pt x="0" y="489712"/>
                  </a:cubicBezTo>
                  <a:close/>
                </a:path>
              </a:pathLst>
            </a:custGeom>
            <a:solidFill>
              <a:srgbClr val="43706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Freeform 12" descr="preencoded.png"/>
          <p:cNvSpPr/>
          <p:nvPr/>
        </p:nvSpPr>
        <p:spPr>
          <a:xfrm>
            <a:off x="1680791" y="2195215"/>
            <a:ext cx="330547" cy="330548"/>
          </a:xfrm>
          <a:custGeom>
            <a:avLst/>
            <a:gdLst/>
            <a:ahLst/>
            <a:cxnLst/>
            <a:rect l="l" t="t" r="r" b="b"/>
            <a:pathLst>
              <a:path w="330547" h="330548">
                <a:moveTo>
                  <a:pt x="0" y="0"/>
                </a:moveTo>
                <a:lnTo>
                  <a:pt x="330548" y="0"/>
                </a:lnTo>
                <a:lnTo>
                  <a:pt x="330548" y="330547"/>
                </a:lnTo>
                <a:lnTo>
                  <a:pt x="0" y="3305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l="-1428" r="-1428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60661" y="2979205"/>
            <a:ext cx="3061246" cy="411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dirty="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Microsoft Excel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3408" y="3613250"/>
            <a:ext cx="6382791" cy="1179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6324" lvl="1" indent="-153162" algn="l">
              <a:lnSpc>
                <a:spcPts val="2316"/>
              </a:lnSpc>
              <a:buFont typeface="Arial"/>
              <a:buChar char="•"/>
            </a:pPr>
            <a:r>
              <a:rPr lang="en-US" sz="1418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Used to store and view the raw ATM transaction dataset.</a:t>
            </a:r>
          </a:p>
          <a:p>
            <a:pPr marL="306324" lvl="1" indent="-153162" algn="l">
              <a:lnSpc>
                <a:spcPts val="2316"/>
              </a:lnSpc>
              <a:buFont typeface="Arial"/>
              <a:buChar char="•"/>
            </a:pPr>
            <a:r>
              <a:rPr lang="en-US" sz="1418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Helped in checking rows, columns and basic structure of the data.</a:t>
            </a:r>
          </a:p>
          <a:p>
            <a:pPr marL="306324" lvl="1" indent="-153162" algn="l">
              <a:lnSpc>
                <a:spcPts val="2317"/>
              </a:lnSpc>
              <a:buFont typeface="Arial"/>
              <a:buChar char="•"/>
            </a:pPr>
            <a:r>
              <a:rPr lang="en-US" sz="1418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Final cleaned file (DAF_PROJECT_clean_for_PowerBI.xlsx) is also saved in Excel format for use in Python and Power BI.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96400" y="1770949"/>
            <a:ext cx="7656363" cy="3597219"/>
            <a:chOff x="0" y="0"/>
            <a:chExt cx="10606035" cy="5837833"/>
          </a:xfrm>
        </p:grpSpPr>
        <p:sp>
          <p:nvSpPr>
            <p:cNvPr id="16" name="Freeform 16"/>
            <p:cNvSpPr/>
            <p:nvPr/>
          </p:nvSpPr>
          <p:spPr>
            <a:xfrm>
              <a:off x="10645" y="6350"/>
              <a:ext cx="10584704" cy="5825109"/>
            </a:xfrm>
            <a:custGeom>
              <a:avLst/>
              <a:gdLst/>
              <a:ahLst/>
              <a:cxnLst/>
              <a:rect l="l" t="t" r="r" b="b"/>
              <a:pathLst>
                <a:path w="10584704" h="5825109">
                  <a:moveTo>
                    <a:pt x="0" y="137160"/>
                  </a:moveTo>
                  <a:cubicBezTo>
                    <a:pt x="0" y="61341"/>
                    <a:pt x="102830" y="0"/>
                    <a:pt x="229931" y="0"/>
                  </a:cubicBezTo>
                  <a:lnTo>
                    <a:pt x="10354773" y="0"/>
                  </a:lnTo>
                  <a:cubicBezTo>
                    <a:pt x="10481661" y="0"/>
                    <a:pt x="10584704" y="61341"/>
                    <a:pt x="10584704" y="137160"/>
                  </a:cubicBezTo>
                  <a:lnTo>
                    <a:pt x="10584704" y="5687949"/>
                  </a:lnTo>
                  <a:cubicBezTo>
                    <a:pt x="10584704" y="5763641"/>
                    <a:pt x="10481874" y="5825109"/>
                    <a:pt x="10354773" y="5825109"/>
                  </a:cubicBezTo>
                  <a:lnTo>
                    <a:pt x="229931" y="5825109"/>
                  </a:lnTo>
                  <a:cubicBezTo>
                    <a:pt x="103043" y="5825109"/>
                    <a:pt x="0" y="5763768"/>
                    <a:pt x="0" y="5687949"/>
                  </a:cubicBezTo>
                  <a:close/>
                </a:path>
              </a:pathLst>
            </a:custGeom>
            <a:solidFill>
              <a:srgbClr val="DFECE9"/>
            </a:solidFill>
            <a:ln w="12700">
              <a:solidFill>
                <a:srgbClr val="000000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10605994" cy="5837809"/>
            </a:xfrm>
            <a:custGeom>
              <a:avLst/>
              <a:gdLst/>
              <a:ahLst/>
              <a:cxnLst/>
              <a:rect l="l" t="t" r="r" b="b"/>
              <a:pathLst>
                <a:path w="10605994" h="5837809">
                  <a:moveTo>
                    <a:pt x="0" y="143510"/>
                  </a:moveTo>
                  <a:cubicBezTo>
                    <a:pt x="0" y="64262"/>
                    <a:pt x="107727" y="0"/>
                    <a:pt x="240576" y="0"/>
                  </a:cubicBezTo>
                  <a:lnTo>
                    <a:pt x="10365418" y="0"/>
                  </a:lnTo>
                  <a:lnTo>
                    <a:pt x="10365418" y="6350"/>
                  </a:lnTo>
                  <a:lnTo>
                    <a:pt x="10365418" y="0"/>
                  </a:lnTo>
                  <a:cubicBezTo>
                    <a:pt x="10498267" y="0"/>
                    <a:pt x="10605994" y="64262"/>
                    <a:pt x="10605994" y="143510"/>
                  </a:cubicBezTo>
                  <a:lnTo>
                    <a:pt x="10595349" y="143510"/>
                  </a:lnTo>
                  <a:lnTo>
                    <a:pt x="10605994" y="143510"/>
                  </a:lnTo>
                  <a:lnTo>
                    <a:pt x="10605994" y="5694299"/>
                  </a:lnTo>
                  <a:lnTo>
                    <a:pt x="10595349" y="5694299"/>
                  </a:lnTo>
                  <a:lnTo>
                    <a:pt x="10605994" y="5694299"/>
                  </a:lnTo>
                  <a:cubicBezTo>
                    <a:pt x="10605994" y="5773547"/>
                    <a:pt x="10498267" y="5837809"/>
                    <a:pt x="10365418" y="5837809"/>
                  </a:cubicBezTo>
                  <a:lnTo>
                    <a:pt x="10365418" y="5831459"/>
                  </a:lnTo>
                  <a:lnTo>
                    <a:pt x="10365418" y="5837809"/>
                  </a:lnTo>
                  <a:lnTo>
                    <a:pt x="240576" y="5837809"/>
                  </a:lnTo>
                  <a:lnTo>
                    <a:pt x="240576" y="5831459"/>
                  </a:lnTo>
                  <a:lnTo>
                    <a:pt x="240576" y="5837809"/>
                  </a:lnTo>
                  <a:cubicBezTo>
                    <a:pt x="107727" y="5837809"/>
                    <a:pt x="0" y="5773547"/>
                    <a:pt x="0" y="5694299"/>
                  </a:cubicBezTo>
                  <a:lnTo>
                    <a:pt x="0" y="143510"/>
                  </a:lnTo>
                  <a:lnTo>
                    <a:pt x="10645" y="143510"/>
                  </a:lnTo>
                  <a:lnTo>
                    <a:pt x="0" y="143510"/>
                  </a:lnTo>
                  <a:moveTo>
                    <a:pt x="21290" y="143510"/>
                  </a:moveTo>
                  <a:lnTo>
                    <a:pt x="21290" y="5694299"/>
                  </a:lnTo>
                  <a:lnTo>
                    <a:pt x="10645" y="5694299"/>
                  </a:lnTo>
                  <a:lnTo>
                    <a:pt x="21290" y="5694299"/>
                  </a:lnTo>
                  <a:cubicBezTo>
                    <a:pt x="21290" y="5766562"/>
                    <a:pt x="119436" y="5825109"/>
                    <a:pt x="240576" y="5825109"/>
                  </a:cubicBezTo>
                  <a:lnTo>
                    <a:pt x="10365418" y="5825109"/>
                  </a:lnTo>
                  <a:cubicBezTo>
                    <a:pt x="10486558" y="5825109"/>
                    <a:pt x="10584704" y="5766562"/>
                    <a:pt x="10584704" y="5694299"/>
                  </a:cubicBezTo>
                  <a:lnTo>
                    <a:pt x="10584704" y="143510"/>
                  </a:lnTo>
                  <a:cubicBezTo>
                    <a:pt x="10584704" y="71247"/>
                    <a:pt x="10486558" y="12700"/>
                    <a:pt x="10365418" y="12700"/>
                  </a:cubicBezTo>
                  <a:lnTo>
                    <a:pt x="240576" y="12700"/>
                  </a:lnTo>
                  <a:lnTo>
                    <a:pt x="240576" y="6350"/>
                  </a:lnTo>
                  <a:lnTo>
                    <a:pt x="240576" y="12700"/>
                  </a:lnTo>
                  <a:cubicBezTo>
                    <a:pt x="119436" y="12700"/>
                    <a:pt x="21290" y="71247"/>
                    <a:pt x="21290" y="143510"/>
                  </a:cubicBezTo>
                  <a:close/>
                </a:path>
              </a:pathLst>
            </a:custGeom>
            <a:solidFill>
              <a:srgbClr val="C5D2C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9624843" y="1941710"/>
            <a:ext cx="734616" cy="734616"/>
            <a:chOff x="0" y="0"/>
            <a:chExt cx="979488" cy="9794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79551" cy="979551"/>
            </a:xfrm>
            <a:custGeom>
              <a:avLst/>
              <a:gdLst/>
              <a:ahLst/>
              <a:cxnLst/>
              <a:rect l="l" t="t" r="r" b="b"/>
              <a:pathLst>
                <a:path w="979551" h="979551">
                  <a:moveTo>
                    <a:pt x="0" y="489712"/>
                  </a:moveTo>
                  <a:cubicBezTo>
                    <a:pt x="0" y="219329"/>
                    <a:pt x="219329" y="0"/>
                    <a:pt x="489712" y="0"/>
                  </a:cubicBezTo>
                  <a:cubicBezTo>
                    <a:pt x="760095" y="0"/>
                    <a:pt x="979551" y="219329"/>
                    <a:pt x="979551" y="489712"/>
                  </a:cubicBezTo>
                  <a:cubicBezTo>
                    <a:pt x="979551" y="760095"/>
                    <a:pt x="760222" y="979551"/>
                    <a:pt x="489712" y="979551"/>
                  </a:cubicBezTo>
                  <a:cubicBezTo>
                    <a:pt x="219202" y="979551"/>
                    <a:pt x="0" y="760222"/>
                    <a:pt x="0" y="489712"/>
                  </a:cubicBezTo>
                  <a:close/>
                </a:path>
              </a:pathLst>
            </a:custGeom>
            <a:solidFill>
              <a:srgbClr val="43706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0" name="Freeform 20" descr="preencoded.png"/>
          <p:cNvSpPr/>
          <p:nvPr/>
        </p:nvSpPr>
        <p:spPr>
          <a:xfrm>
            <a:off x="9826877" y="2143767"/>
            <a:ext cx="330548" cy="330548"/>
          </a:xfrm>
          <a:custGeom>
            <a:avLst/>
            <a:gdLst/>
            <a:ahLst/>
            <a:cxnLst/>
            <a:rect l="l" t="t" r="r" b="b"/>
            <a:pathLst>
              <a:path w="330548" h="330548">
                <a:moveTo>
                  <a:pt x="0" y="0"/>
                </a:moveTo>
                <a:lnTo>
                  <a:pt x="330548" y="0"/>
                </a:lnTo>
                <a:lnTo>
                  <a:pt x="330548" y="330547"/>
                </a:lnTo>
                <a:lnTo>
                  <a:pt x="0" y="3305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 t="-7142" b="-7142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653146" y="2885884"/>
            <a:ext cx="3553826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dirty="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Python (Google Colab)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24842" y="3458299"/>
            <a:ext cx="6986757" cy="1179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1771" lvl="1" indent="-150885" algn="l">
              <a:lnSpc>
                <a:spcPts val="2282"/>
              </a:lnSpc>
              <a:buFont typeface="Arial"/>
              <a:buChar char="•"/>
            </a:pPr>
            <a:r>
              <a:rPr lang="en-US" sz="1397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Used for data cleaning and transformation using pandas.</a:t>
            </a:r>
          </a:p>
          <a:p>
            <a:pPr marL="301771" lvl="1" indent="-150885" algn="l">
              <a:lnSpc>
                <a:spcPts val="2282"/>
              </a:lnSpc>
              <a:buFont typeface="Arial"/>
              <a:buChar char="•"/>
            </a:pPr>
            <a:r>
              <a:rPr lang="en-US" sz="1397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Performed EDA (Exploratory Data Analysis) and plotted trends in ATM cash usage</a:t>
            </a:r>
            <a:r>
              <a:rPr lang="en-US" sz="1397" dirty="0" smtClean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.</a:t>
            </a:r>
          </a:p>
          <a:p>
            <a:pPr marL="301771" lvl="1" indent="-150885" algn="l">
              <a:lnSpc>
                <a:spcPts val="2282"/>
              </a:lnSpc>
              <a:buFont typeface="Arial"/>
              <a:buChar char="•"/>
            </a:pPr>
            <a:r>
              <a:rPr lang="en-US" sz="1397" dirty="0" smtClean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Exported the cleaned dataset from Python for use in Power BI visualizations</a:t>
            </a:r>
            <a:r>
              <a:rPr lang="en-US" sz="1397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.</a:t>
            </a:r>
            <a:endParaRPr lang="en-US" sz="1397" dirty="0" smtClean="0">
              <a:solidFill>
                <a:srgbClr val="2C3249"/>
              </a:solidFill>
              <a:latin typeface="Martel Sans"/>
              <a:ea typeface="Martel Sans"/>
              <a:cs typeface="Martel Sans"/>
              <a:sym typeface="Martel Sans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2891284" y="6404307"/>
            <a:ext cx="8995916" cy="3615993"/>
            <a:chOff x="0" y="0"/>
            <a:chExt cx="12967097" cy="4369628"/>
          </a:xfrm>
        </p:grpSpPr>
        <p:sp>
          <p:nvSpPr>
            <p:cNvPr id="24" name="Freeform 24"/>
            <p:cNvSpPr/>
            <p:nvPr/>
          </p:nvSpPr>
          <p:spPr>
            <a:xfrm>
              <a:off x="6350" y="6498"/>
              <a:ext cx="12954381" cy="4356633"/>
            </a:xfrm>
            <a:custGeom>
              <a:avLst/>
              <a:gdLst/>
              <a:ahLst/>
              <a:cxnLst/>
              <a:rect l="l" t="t" r="r" b="b"/>
              <a:pathLst>
                <a:path w="12954381" h="4356633">
                  <a:moveTo>
                    <a:pt x="0" y="140347"/>
                  </a:moveTo>
                  <a:cubicBezTo>
                    <a:pt x="0" y="62766"/>
                    <a:pt x="61468" y="0"/>
                    <a:pt x="137414" y="0"/>
                  </a:cubicBezTo>
                  <a:lnTo>
                    <a:pt x="12816967" y="0"/>
                  </a:lnTo>
                  <a:cubicBezTo>
                    <a:pt x="12892913" y="0"/>
                    <a:pt x="12954381" y="62766"/>
                    <a:pt x="12954381" y="140347"/>
                  </a:cubicBezTo>
                  <a:lnTo>
                    <a:pt x="12954381" y="4216285"/>
                  </a:lnTo>
                  <a:cubicBezTo>
                    <a:pt x="12954381" y="4293736"/>
                    <a:pt x="12892913" y="4356632"/>
                    <a:pt x="12816967" y="4356632"/>
                  </a:cubicBezTo>
                  <a:lnTo>
                    <a:pt x="137414" y="4356632"/>
                  </a:lnTo>
                  <a:cubicBezTo>
                    <a:pt x="61468" y="4356632"/>
                    <a:pt x="0" y="4293866"/>
                    <a:pt x="0" y="4216285"/>
                  </a:cubicBezTo>
                  <a:close/>
                </a:path>
              </a:pathLst>
            </a:custGeom>
            <a:solidFill>
              <a:srgbClr val="DFECE9"/>
            </a:solidFill>
            <a:ln w="12700">
              <a:solidFill>
                <a:srgbClr val="000000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12967081" cy="4369628"/>
            </a:xfrm>
            <a:custGeom>
              <a:avLst/>
              <a:gdLst/>
              <a:ahLst/>
              <a:cxnLst/>
              <a:rect l="l" t="t" r="r" b="b"/>
              <a:pathLst>
                <a:path w="12967081" h="4369628">
                  <a:moveTo>
                    <a:pt x="0" y="146845"/>
                  </a:moveTo>
                  <a:cubicBezTo>
                    <a:pt x="0" y="65756"/>
                    <a:pt x="64389" y="0"/>
                    <a:pt x="143764" y="0"/>
                  </a:cubicBezTo>
                  <a:lnTo>
                    <a:pt x="12823317" y="0"/>
                  </a:lnTo>
                  <a:lnTo>
                    <a:pt x="12823317" y="6498"/>
                  </a:lnTo>
                  <a:lnTo>
                    <a:pt x="12823317" y="0"/>
                  </a:lnTo>
                  <a:cubicBezTo>
                    <a:pt x="12902692" y="0"/>
                    <a:pt x="12967081" y="65756"/>
                    <a:pt x="12967081" y="146845"/>
                  </a:cubicBezTo>
                  <a:lnTo>
                    <a:pt x="12960731" y="146845"/>
                  </a:lnTo>
                  <a:lnTo>
                    <a:pt x="12967081" y="146845"/>
                  </a:lnTo>
                  <a:lnTo>
                    <a:pt x="12967081" y="4222783"/>
                  </a:lnTo>
                  <a:lnTo>
                    <a:pt x="12960731" y="4222783"/>
                  </a:lnTo>
                  <a:lnTo>
                    <a:pt x="12967081" y="4222783"/>
                  </a:lnTo>
                  <a:cubicBezTo>
                    <a:pt x="12967081" y="4303872"/>
                    <a:pt x="12902692" y="4369628"/>
                    <a:pt x="12823317" y="4369628"/>
                  </a:cubicBezTo>
                  <a:lnTo>
                    <a:pt x="12823317" y="4363130"/>
                  </a:lnTo>
                  <a:lnTo>
                    <a:pt x="12823317" y="4369628"/>
                  </a:lnTo>
                  <a:lnTo>
                    <a:pt x="143764" y="4369628"/>
                  </a:lnTo>
                  <a:lnTo>
                    <a:pt x="143764" y="4363130"/>
                  </a:lnTo>
                  <a:lnTo>
                    <a:pt x="143764" y="4369628"/>
                  </a:lnTo>
                  <a:cubicBezTo>
                    <a:pt x="64389" y="4369628"/>
                    <a:pt x="0" y="4303872"/>
                    <a:pt x="0" y="4222783"/>
                  </a:cubicBezTo>
                  <a:lnTo>
                    <a:pt x="0" y="146845"/>
                  </a:lnTo>
                  <a:lnTo>
                    <a:pt x="6350" y="146845"/>
                  </a:lnTo>
                  <a:lnTo>
                    <a:pt x="0" y="146845"/>
                  </a:lnTo>
                  <a:moveTo>
                    <a:pt x="12700" y="146845"/>
                  </a:moveTo>
                  <a:lnTo>
                    <a:pt x="12700" y="4222783"/>
                  </a:lnTo>
                  <a:lnTo>
                    <a:pt x="6350" y="4222783"/>
                  </a:lnTo>
                  <a:lnTo>
                    <a:pt x="12700" y="4222783"/>
                  </a:lnTo>
                  <a:cubicBezTo>
                    <a:pt x="12700" y="4296725"/>
                    <a:pt x="71374" y="4356633"/>
                    <a:pt x="143764" y="4356633"/>
                  </a:cubicBezTo>
                  <a:lnTo>
                    <a:pt x="12823317" y="4356633"/>
                  </a:lnTo>
                  <a:cubicBezTo>
                    <a:pt x="12895707" y="4356633"/>
                    <a:pt x="12954381" y="4296725"/>
                    <a:pt x="12954381" y="4222783"/>
                  </a:cubicBezTo>
                  <a:lnTo>
                    <a:pt x="12954381" y="146845"/>
                  </a:lnTo>
                  <a:cubicBezTo>
                    <a:pt x="12954381" y="72903"/>
                    <a:pt x="12895707" y="12995"/>
                    <a:pt x="12823317" y="12995"/>
                  </a:cubicBezTo>
                  <a:lnTo>
                    <a:pt x="143764" y="12995"/>
                  </a:lnTo>
                  <a:lnTo>
                    <a:pt x="143764" y="6498"/>
                  </a:lnTo>
                  <a:lnTo>
                    <a:pt x="143764" y="12995"/>
                  </a:lnTo>
                  <a:cubicBezTo>
                    <a:pt x="71374" y="12995"/>
                    <a:pt x="12700" y="72903"/>
                    <a:pt x="12700" y="146845"/>
                  </a:cubicBezTo>
                  <a:close/>
                </a:path>
              </a:pathLst>
            </a:custGeom>
            <a:solidFill>
              <a:srgbClr val="C5D2C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3273186" y="6509072"/>
            <a:ext cx="734616" cy="734616"/>
            <a:chOff x="0" y="0"/>
            <a:chExt cx="979488" cy="97948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79551" cy="979551"/>
            </a:xfrm>
            <a:custGeom>
              <a:avLst/>
              <a:gdLst/>
              <a:ahLst/>
              <a:cxnLst/>
              <a:rect l="l" t="t" r="r" b="b"/>
              <a:pathLst>
                <a:path w="979551" h="979551">
                  <a:moveTo>
                    <a:pt x="0" y="489712"/>
                  </a:moveTo>
                  <a:cubicBezTo>
                    <a:pt x="0" y="219329"/>
                    <a:pt x="219329" y="0"/>
                    <a:pt x="489712" y="0"/>
                  </a:cubicBezTo>
                  <a:cubicBezTo>
                    <a:pt x="760095" y="0"/>
                    <a:pt x="979551" y="219329"/>
                    <a:pt x="979551" y="489712"/>
                  </a:cubicBezTo>
                  <a:cubicBezTo>
                    <a:pt x="979551" y="760095"/>
                    <a:pt x="760222" y="979551"/>
                    <a:pt x="489712" y="979551"/>
                  </a:cubicBezTo>
                  <a:cubicBezTo>
                    <a:pt x="219202" y="979551"/>
                    <a:pt x="0" y="760222"/>
                    <a:pt x="0" y="489712"/>
                  </a:cubicBezTo>
                  <a:close/>
                </a:path>
              </a:pathLst>
            </a:custGeom>
            <a:solidFill>
              <a:srgbClr val="43706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8" name="Freeform 28" descr="preencoded.png"/>
          <p:cNvSpPr/>
          <p:nvPr/>
        </p:nvSpPr>
        <p:spPr>
          <a:xfrm>
            <a:off x="3475220" y="6711107"/>
            <a:ext cx="330547" cy="330548"/>
          </a:xfrm>
          <a:custGeom>
            <a:avLst/>
            <a:gdLst/>
            <a:ahLst/>
            <a:cxnLst/>
            <a:rect l="l" t="t" r="r" b="b"/>
            <a:pathLst>
              <a:path w="330547" h="330548">
                <a:moveTo>
                  <a:pt x="0" y="0"/>
                </a:moveTo>
                <a:lnTo>
                  <a:pt x="330548" y="0"/>
                </a:lnTo>
                <a:lnTo>
                  <a:pt x="330548" y="330547"/>
                </a:lnTo>
                <a:lnTo>
                  <a:pt x="0" y="3305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 t="-7142" b="-7142"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3116819" y="7392591"/>
            <a:ext cx="3061246" cy="411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dirty="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Microsoft Power BI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116819" y="7822853"/>
            <a:ext cx="10061850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1192" lvl="1" indent="-180596" algn="l">
              <a:lnSpc>
                <a:spcPts val="2731"/>
              </a:lnSpc>
              <a:buFont typeface="Arial"/>
              <a:buChar char="•"/>
            </a:pPr>
            <a:r>
              <a:rPr lang="en-US" sz="1672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Used to create an interactive dashboard.</a:t>
            </a:r>
          </a:p>
          <a:p>
            <a:pPr marL="361192" lvl="1" indent="-180596" algn="l">
              <a:lnSpc>
                <a:spcPts val="2731"/>
              </a:lnSpc>
              <a:buFont typeface="Arial"/>
              <a:buChar char="•"/>
            </a:pPr>
            <a:r>
              <a:rPr lang="en-US" sz="1672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Connected to:</a:t>
            </a:r>
          </a:p>
          <a:p>
            <a:pPr marL="361192" lvl="1" indent="-180596" algn="l">
              <a:lnSpc>
                <a:spcPts val="2731"/>
              </a:lnSpc>
              <a:buFont typeface="Arial"/>
              <a:buChar char="•"/>
            </a:pPr>
            <a:r>
              <a:rPr lang="en-US" sz="1672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Cleaned dataset → </a:t>
            </a:r>
            <a:r>
              <a:rPr lang="en-US" sz="1672" dirty="0" smtClean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DAF_PROJECT_clean_for_PowerBI.xlsx</a:t>
            </a:r>
          </a:p>
          <a:p>
            <a:pPr marL="361192" lvl="1" indent="-180596" algn="l">
              <a:lnSpc>
                <a:spcPts val="2731"/>
              </a:lnSpc>
              <a:buFont typeface="Arial"/>
              <a:buChar char="•"/>
            </a:pPr>
            <a:r>
              <a:rPr lang="en-US" sz="1672" dirty="0" smtClean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Created simple visuals like line charts and bar charts.</a:t>
            </a:r>
          </a:p>
          <a:p>
            <a:pPr marL="361192" lvl="1" indent="-180596" algn="l">
              <a:lnSpc>
                <a:spcPts val="2731"/>
              </a:lnSpc>
              <a:buFont typeface="Arial"/>
              <a:buChar char="•"/>
            </a:pPr>
            <a:r>
              <a:rPr lang="en-US" sz="1672" dirty="0" smtClean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Used slicers ( ATM_ID, Date) for basic filtering.</a:t>
            </a:r>
          </a:p>
          <a:p>
            <a:pPr marL="361192" lvl="1" indent="-180596" algn="l">
              <a:lnSpc>
                <a:spcPts val="2731"/>
              </a:lnSpc>
              <a:buFont typeface="Arial"/>
              <a:buChar char="•"/>
            </a:pPr>
            <a:r>
              <a:rPr lang="en-US" sz="1672" dirty="0" smtClean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Visualized ATM cash withdrawal trends and usage patterns.</a:t>
            </a:r>
          </a:p>
          <a:p>
            <a:pPr marL="180596" lvl="1" algn="l">
              <a:lnSpc>
                <a:spcPts val="2731"/>
              </a:lnSpc>
            </a:pPr>
            <a:endParaRPr lang="en-US" sz="1672" dirty="0">
              <a:solidFill>
                <a:srgbClr val="2C3249"/>
              </a:solidFill>
              <a:latin typeface="Martel Sans"/>
              <a:ea typeface="Martel Sans"/>
              <a:cs typeface="Martel Sans"/>
              <a:sym typeface="Martel Sans"/>
            </a:endParaRPr>
          </a:p>
          <a:p>
            <a:pPr algn="l">
              <a:lnSpc>
                <a:spcPts val="2732"/>
              </a:lnSpc>
            </a:pPr>
            <a:endParaRPr lang="en-US" sz="1672" dirty="0">
              <a:solidFill>
                <a:srgbClr val="2C3249"/>
              </a:solidFill>
              <a:latin typeface="Martel Sans"/>
              <a:ea typeface="Martel Sans"/>
              <a:cs typeface="Martel Sans"/>
              <a:sym typeface="Marte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3063" y="1089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1692" y="2104271"/>
            <a:ext cx="5306020" cy="28575"/>
            <a:chOff x="0" y="0"/>
            <a:chExt cx="7074693" cy="38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74662" cy="38100"/>
            </a:xfrm>
            <a:custGeom>
              <a:avLst/>
              <a:gdLst/>
              <a:ahLst/>
              <a:cxnLst/>
              <a:rect l="l" t="t" r="r" b="b"/>
              <a:pathLst>
                <a:path w="7074662" h="38100">
                  <a:moveTo>
                    <a:pt x="0" y="0"/>
                  </a:moveTo>
                  <a:lnTo>
                    <a:pt x="7074662" y="0"/>
                  </a:lnTo>
                  <a:lnTo>
                    <a:pt x="707466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3706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754267" y="2075696"/>
            <a:ext cx="5306020" cy="28575"/>
            <a:chOff x="0" y="0"/>
            <a:chExt cx="7074693" cy="38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74662" cy="38100"/>
            </a:xfrm>
            <a:custGeom>
              <a:avLst/>
              <a:gdLst/>
              <a:ahLst/>
              <a:cxnLst/>
              <a:rect l="l" t="t" r="r" b="b"/>
              <a:pathLst>
                <a:path w="7074662" h="38100">
                  <a:moveTo>
                    <a:pt x="0" y="0"/>
                  </a:moveTo>
                  <a:lnTo>
                    <a:pt x="7074662" y="0"/>
                  </a:lnTo>
                  <a:lnTo>
                    <a:pt x="707466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3706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534841" y="2075696"/>
            <a:ext cx="5306020" cy="28575"/>
            <a:chOff x="0" y="0"/>
            <a:chExt cx="7074693" cy="38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074662" cy="38100"/>
            </a:xfrm>
            <a:custGeom>
              <a:avLst/>
              <a:gdLst/>
              <a:ahLst/>
              <a:cxnLst/>
              <a:rect l="l" t="t" r="r" b="b"/>
              <a:pathLst>
                <a:path w="7074662" h="38100">
                  <a:moveTo>
                    <a:pt x="0" y="0"/>
                  </a:moveTo>
                  <a:lnTo>
                    <a:pt x="7074662" y="0"/>
                  </a:lnTo>
                  <a:lnTo>
                    <a:pt x="707466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3706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783029" y="6092810"/>
            <a:ext cx="6700646" cy="3301335"/>
            <a:chOff x="0" y="0"/>
            <a:chExt cx="1038105" cy="51146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38105" cy="511463"/>
            </a:xfrm>
            <a:custGeom>
              <a:avLst/>
              <a:gdLst/>
              <a:ahLst/>
              <a:cxnLst/>
              <a:rect l="l" t="t" r="r" b="b"/>
              <a:pathLst>
                <a:path w="1038105" h="511463">
                  <a:moveTo>
                    <a:pt x="0" y="0"/>
                  </a:moveTo>
                  <a:lnTo>
                    <a:pt x="1038105" y="0"/>
                  </a:lnTo>
                  <a:lnTo>
                    <a:pt x="1038105" y="511463"/>
                  </a:lnTo>
                  <a:lnTo>
                    <a:pt x="0" y="511463"/>
                  </a:lnTo>
                  <a:close/>
                </a:path>
              </a:pathLst>
            </a:custGeom>
            <a:blipFill>
              <a:blip r:embed="rId3"/>
              <a:stretch>
                <a:fillRect l="-11586" r="-11586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160339" y="6092810"/>
            <a:ext cx="7435438" cy="3302233"/>
            <a:chOff x="0" y="0"/>
            <a:chExt cx="1151944" cy="51160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51944" cy="511602"/>
            </a:xfrm>
            <a:custGeom>
              <a:avLst/>
              <a:gdLst/>
              <a:ahLst/>
              <a:cxnLst/>
              <a:rect l="l" t="t" r="r" b="b"/>
              <a:pathLst>
                <a:path w="1151944" h="511602">
                  <a:moveTo>
                    <a:pt x="0" y="0"/>
                  </a:moveTo>
                  <a:lnTo>
                    <a:pt x="1151944" y="0"/>
                  </a:lnTo>
                  <a:lnTo>
                    <a:pt x="1151944" y="511602"/>
                  </a:lnTo>
                  <a:lnTo>
                    <a:pt x="0" y="511602"/>
                  </a:lnTo>
                  <a:close/>
                </a:path>
              </a:pathLst>
            </a:custGeom>
            <a:blipFill>
              <a:blip r:embed="rId4"/>
              <a:stretch>
                <a:fillRect l="-3101" r="-3101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921692" y="560040"/>
            <a:ext cx="7098209" cy="88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5125" dirty="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Methodology / Workflow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1594237"/>
            <a:ext cx="263278" cy="37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dirty="0" smtClean="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endParaRPr lang="en-US" sz="2062" dirty="0">
              <a:solidFill>
                <a:srgbClr val="2C324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21692" y="2361446"/>
            <a:ext cx="2368302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</a:pPr>
            <a:r>
              <a:rPr lang="en-US" sz="2362" dirty="0" smtClean="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Data </a:t>
            </a:r>
            <a:r>
              <a:rPr lang="en-US" sz="2362" dirty="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Collection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1692" y="2982506"/>
            <a:ext cx="5306020" cy="2333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569"/>
              </a:lnSpc>
              <a:buFont typeface="Arial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Collected ATM transaction data in Excel format from an online source.</a:t>
            </a:r>
          </a:p>
          <a:p>
            <a:pPr marL="345441" lvl="1" indent="-172721" algn="l">
              <a:lnSpc>
                <a:spcPts val="2569"/>
              </a:lnSpc>
              <a:buFont typeface="Arial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Dataset contains 200+ rows, each row represents one ATM on one date.</a:t>
            </a:r>
          </a:p>
          <a:p>
            <a:pPr marL="345441" lvl="1" indent="-172721" algn="l">
              <a:lnSpc>
                <a:spcPts val="2569"/>
              </a:lnSpc>
              <a:buFont typeface="Arial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Main fields include: ATM_ID, Date, </a:t>
            </a:r>
            <a:r>
              <a:rPr lang="en-US" sz="1600" dirty="0" smtClean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Cash Withdrawn, </a:t>
            </a:r>
            <a:r>
              <a:rPr lang="en-US" sz="1600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refill_needed_flag, etc.</a:t>
            </a:r>
          </a:p>
          <a:p>
            <a:pPr algn="l">
              <a:lnSpc>
                <a:spcPts val="2569"/>
              </a:lnSpc>
            </a:pPr>
            <a:endParaRPr lang="en-US" sz="1600" dirty="0">
              <a:solidFill>
                <a:srgbClr val="2C3249"/>
              </a:solidFill>
              <a:latin typeface="Martel Sans"/>
              <a:ea typeface="Martel Sans"/>
              <a:cs typeface="Martel Sans"/>
              <a:sym typeface="Martel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017545" y="1594237"/>
            <a:ext cx="263278" cy="424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dirty="0" smtClean="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  <a:endParaRPr lang="en-US" sz="2062" dirty="0">
              <a:solidFill>
                <a:srgbClr val="2C324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873694" y="2361446"/>
            <a:ext cx="5306020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</a:pPr>
            <a:r>
              <a:rPr lang="en-US" sz="2362" dirty="0" smtClean="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Data </a:t>
            </a:r>
            <a:r>
              <a:rPr lang="en-US" sz="2362" dirty="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Cleaning (Python – Google Colab)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54267" y="2887256"/>
            <a:ext cx="5306020" cy="2667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569"/>
              </a:lnSpc>
              <a:buFont typeface="Arial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Loaded the Excel file into Python (pandas).</a:t>
            </a:r>
          </a:p>
          <a:p>
            <a:pPr marL="345441" lvl="1" indent="-172721" algn="l">
              <a:lnSpc>
                <a:spcPts val="2569"/>
              </a:lnSpc>
              <a:buFont typeface="Arial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Converted Date to proper datetime format and created numeric date features.</a:t>
            </a:r>
          </a:p>
          <a:p>
            <a:pPr marL="345441" lvl="1" indent="-172721" algn="l">
              <a:lnSpc>
                <a:spcPts val="2569"/>
              </a:lnSpc>
              <a:buFont typeface="Arial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Checked and handled missing or inconsistent values</a:t>
            </a:r>
            <a:r>
              <a:rPr lang="en-US" sz="1600" dirty="0" smtClean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..</a:t>
            </a:r>
            <a:endParaRPr lang="en-US" sz="1600" dirty="0">
              <a:solidFill>
                <a:srgbClr val="2C3249"/>
              </a:solidFill>
              <a:latin typeface="Martel Sans"/>
              <a:ea typeface="Martel Sans"/>
              <a:cs typeface="Martel Sans"/>
              <a:sym typeface="Martel Sans"/>
            </a:endParaRPr>
          </a:p>
          <a:p>
            <a:pPr marL="345441" lvl="1" indent="-172721" algn="l">
              <a:lnSpc>
                <a:spcPts val="2569"/>
              </a:lnSpc>
              <a:buFont typeface="Arial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Saved the cleaned data as DAF_PROJECT_clean_for_PowerBI.xlsx</a:t>
            </a:r>
          </a:p>
          <a:p>
            <a:pPr algn="l">
              <a:lnSpc>
                <a:spcPts val="2569"/>
              </a:lnSpc>
            </a:pPr>
            <a:endParaRPr lang="en-US" sz="1600" dirty="0">
              <a:solidFill>
                <a:srgbClr val="2C3249"/>
              </a:solidFill>
              <a:latin typeface="Martel Sans"/>
              <a:ea typeface="Martel Sans"/>
              <a:cs typeface="Martel Sans"/>
              <a:sym typeface="Martel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718539" y="1594237"/>
            <a:ext cx="263278" cy="37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 dirty="0" smtClean="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  <a:endParaRPr lang="en-US" sz="2062" dirty="0">
              <a:solidFill>
                <a:srgbClr val="2C324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718539" y="2361446"/>
            <a:ext cx="3134767" cy="37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</a:pPr>
            <a:r>
              <a:rPr lang="en-US" sz="2362" dirty="0" smtClean="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Initial </a:t>
            </a:r>
            <a:r>
              <a:rPr lang="en-US" sz="2362" dirty="0">
                <a:solidFill>
                  <a:srgbClr val="2C3249"/>
                </a:solidFill>
                <a:latin typeface="Arimo"/>
                <a:ea typeface="Arimo"/>
                <a:cs typeface="Arimo"/>
                <a:sym typeface="Arimo"/>
              </a:rPr>
              <a:t>Analysis (EDA)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703589" y="2792006"/>
            <a:ext cx="5306020" cy="2667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569"/>
              </a:lnSpc>
              <a:buFont typeface="Arial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Performed exploratory data analysis on the cleaned dataset.</a:t>
            </a:r>
          </a:p>
          <a:p>
            <a:pPr marL="345441" lvl="1" indent="-172721" algn="l">
              <a:lnSpc>
                <a:spcPts val="2569"/>
              </a:lnSpc>
              <a:buFont typeface="Arial"/>
              <a:buChar char="•"/>
            </a:pPr>
            <a:r>
              <a:rPr lang="en-US" sz="1600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Plotted the trend in ATM cash usage (Cash_Withdrawn over time).</a:t>
            </a:r>
          </a:p>
          <a:p>
            <a:pPr marL="345441" lvl="1" indent="-172721" algn="l">
              <a:lnSpc>
                <a:spcPts val="2569"/>
              </a:lnSpc>
              <a:buFont typeface="Arial"/>
              <a:buChar char="•"/>
            </a:pPr>
            <a:r>
              <a:rPr lang="en-US" sz="1600" dirty="0" smtClean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Analyzed </a:t>
            </a:r>
            <a:r>
              <a:rPr lang="en-US" sz="1600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patterns in refill_needed_flag (0 vs 1).</a:t>
            </a:r>
          </a:p>
          <a:p>
            <a:pPr marL="345441" lvl="1" indent="-172721" algn="l">
              <a:lnSpc>
                <a:spcPts val="2569"/>
              </a:lnSpc>
              <a:buFont typeface="Arial"/>
              <a:buChar char="•"/>
            </a:pPr>
            <a:r>
              <a:rPr lang="en-US" sz="1600" dirty="0" smtClean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Used these insights to understand cash usage and refill behavior.</a:t>
            </a:r>
          </a:p>
          <a:p>
            <a:pPr algn="l">
              <a:lnSpc>
                <a:spcPts val="2569"/>
              </a:lnSpc>
            </a:pPr>
            <a:endParaRPr lang="en-US" sz="1600" dirty="0">
              <a:solidFill>
                <a:srgbClr val="2C3249"/>
              </a:solidFill>
              <a:latin typeface="Martel Sans"/>
              <a:ea typeface="Martel Sans"/>
              <a:cs typeface="Martel Sans"/>
              <a:sym typeface="Martel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623777" y="9671268"/>
            <a:ext cx="6396124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 – Data Cleaning &amp; Output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834617" y="9682013"/>
            <a:ext cx="4406068" cy="24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4"/>
              </a:lnSpc>
              <a:spcBef>
                <a:spcPct val="0"/>
              </a:spcBef>
            </a:pPr>
            <a:r>
              <a:rPr lang="en-US" sz="15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Python – Trends in ATM Cash Usage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1018708" y="856293"/>
            <a:ext cx="6948287" cy="4844271"/>
            <a:chOff x="0" y="0"/>
            <a:chExt cx="1076471" cy="7505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471" cy="750504"/>
            </a:xfrm>
            <a:custGeom>
              <a:avLst/>
              <a:gdLst/>
              <a:ahLst/>
              <a:cxnLst/>
              <a:rect l="l" t="t" r="r" b="b"/>
              <a:pathLst>
                <a:path w="1076471" h="750504">
                  <a:moveTo>
                    <a:pt x="0" y="0"/>
                  </a:moveTo>
                  <a:lnTo>
                    <a:pt x="1076471" y="0"/>
                  </a:lnTo>
                  <a:lnTo>
                    <a:pt x="1076471" y="750504"/>
                  </a:lnTo>
                  <a:lnTo>
                    <a:pt x="0" y="750504"/>
                  </a:lnTo>
                  <a:close/>
                </a:path>
              </a:pathLst>
            </a:custGeom>
            <a:blipFill>
              <a:blip r:embed="rId3"/>
              <a:stretch>
                <a:fillRect t="-14188" b="-141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018708" y="5888844"/>
            <a:ext cx="6948287" cy="4032327"/>
            <a:chOff x="0" y="0"/>
            <a:chExt cx="1076471" cy="6247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6471" cy="624713"/>
            </a:xfrm>
            <a:custGeom>
              <a:avLst/>
              <a:gdLst/>
              <a:ahLst/>
              <a:cxnLst/>
              <a:rect l="l" t="t" r="r" b="b"/>
              <a:pathLst>
                <a:path w="1076471" h="624713">
                  <a:moveTo>
                    <a:pt x="0" y="0"/>
                  </a:moveTo>
                  <a:lnTo>
                    <a:pt x="1076471" y="0"/>
                  </a:lnTo>
                  <a:lnTo>
                    <a:pt x="1076471" y="624713"/>
                  </a:lnTo>
                  <a:lnTo>
                    <a:pt x="0" y="624713"/>
                  </a:lnTo>
                  <a:close/>
                </a:path>
              </a:pathLst>
            </a:custGeom>
            <a:blipFill>
              <a:blip r:embed="rId4"/>
              <a:stretch>
                <a:fillRect t="-15726" b="-15726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14721" y="1095973"/>
            <a:ext cx="908648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25"/>
              </a:lnSpc>
            </a:pPr>
            <a:r>
              <a:rPr lang="en-US" sz="4499" dirty="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Classification &amp; Regression Models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4721" y="2489747"/>
            <a:ext cx="4631382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74"/>
              </a:lnSpc>
            </a:pPr>
            <a:r>
              <a:rPr lang="en-US" sz="2687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1. Classification Model – Refill Prediction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4721" y="3541961"/>
            <a:ext cx="4631382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4"/>
              </a:lnSpc>
            </a:pPr>
            <a:r>
              <a:rPr lang="en-US" sz="1751" b="1" dirty="0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Target variable:</a:t>
            </a:r>
            <a:r>
              <a:rPr lang="en-US" sz="1751" dirty="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</a:t>
            </a:r>
            <a:r>
              <a:rPr lang="en-US" sz="1751" dirty="0" err="1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refill_needed_flag</a:t>
            </a:r>
            <a:r>
              <a:rPr lang="en-US" sz="1751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(0 = No refill, 1 = Refill needed)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4721" y="4534645"/>
            <a:ext cx="4631382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4"/>
              </a:lnSpc>
            </a:pPr>
            <a:r>
              <a:rPr lang="en-US" sz="1751" b="1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Algorithm:</a:t>
            </a:r>
            <a:r>
              <a:rPr lang="en-US" sz="1751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Random Forest Classifier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4721" y="5085607"/>
            <a:ext cx="4631382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4"/>
              </a:lnSpc>
            </a:pPr>
            <a:r>
              <a:rPr lang="en-US" sz="1751" b="1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Input:</a:t>
            </a:r>
            <a:r>
              <a:rPr lang="en-US" sz="1751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Cleaned feature set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4721" y="5586264"/>
            <a:ext cx="4631382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4"/>
              </a:lnSpc>
            </a:pPr>
            <a:r>
              <a:rPr lang="en-US" sz="1751" b="1">
                <a:solidFill>
                  <a:srgbClr val="2C3249"/>
                </a:solidFill>
                <a:latin typeface="Consolas Bold"/>
                <a:ea typeface="Consolas Bold"/>
                <a:cs typeface="Consolas Bold"/>
                <a:sym typeface="Consolas Bold"/>
              </a:rPr>
              <a:t>Output file:</a:t>
            </a:r>
            <a:r>
              <a:rPr lang="en-US" sz="1751">
                <a:solidFill>
                  <a:srgbClr val="2C3249"/>
                </a:solidFill>
                <a:latin typeface="Consolas"/>
                <a:ea typeface="Consolas"/>
                <a:cs typeface="Consolas"/>
                <a:sym typeface="Consolas"/>
              </a:rPr>
              <a:t> ALL_ATM_classification_results.xlsx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4721" y="6616454"/>
            <a:ext cx="4631382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4"/>
              </a:lnSpc>
            </a:pPr>
            <a:r>
              <a:rPr lang="en-US" sz="1751" b="1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Performance Metrics: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4721" y="7212361"/>
            <a:ext cx="4631382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36" lvl="1" indent="-131967">
              <a:lnSpc>
                <a:spcPts val="2874"/>
              </a:lnSpc>
              <a:buFont typeface="Arial"/>
              <a:buChar char="•"/>
            </a:pPr>
            <a:r>
              <a:rPr lang="en-US" sz="1751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Accuracy: </a:t>
            </a:r>
            <a:r>
              <a:rPr lang="en-US" sz="1751" b="1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0.9250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4721" y="7654678"/>
            <a:ext cx="4631382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36" lvl="1" indent="-131967">
              <a:lnSpc>
                <a:spcPts val="2874"/>
              </a:lnSpc>
              <a:buFont typeface="Arial"/>
              <a:buChar char="•"/>
            </a:pPr>
            <a:r>
              <a:rPr lang="en-US" sz="1751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Precision: </a:t>
            </a:r>
            <a:r>
              <a:rPr lang="en-US" sz="1751" b="1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0.8333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4721" y="8098186"/>
            <a:ext cx="4631382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36" lvl="1" indent="-131967">
              <a:lnSpc>
                <a:spcPts val="2874"/>
              </a:lnSpc>
              <a:buFont typeface="Arial"/>
              <a:buChar char="•"/>
            </a:pPr>
            <a:r>
              <a:rPr lang="en-US" sz="1751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Recall: </a:t>
            </a:r>
            <a:r>
              <a:rPr lang="en-US" sz="1751" b="1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0.7143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4721" y="8541694"/>
            <a:ext cx="4631382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36" lvl="1" indent="-131967">
              <a:lnSpc>
                <a:spcPts val="2874"/>
              </a:lnSpc>
              <a:buFont typeface="Arial"/>
              <a:buChar char="•"/>
            </a:pPr>
            <a:r>
              <a:rPr lang="en-US" sz="1751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F1 Score: </a:t>
            </a:r>
            <a:r>
              <a:rPr lang="en-US" sz="1751" b="1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0.7692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04620" y="2489747"/>
            <a:ext cx="4631382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74"/>
              </a:lnSpc>
            </a:pPr>
            <a:r>
              <a:rPr lang="en-US" sz="2687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2. Regression Model – Cash Withdrawal Prediction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04620" y="3541961"/>
            <a:ext cx="4631382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4"/>
              </a:lnSpc>
            </a:pPr>
            <a:r>
              <a:rPr lang="en-US" sz="1751" b="1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Target variable:</a:t>
            </a:r>
            <a:r>
              <a:rPr lang="en-US" sz="1751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Cash_Withdrawn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04620" y="4144417"/>
            <a:ext cx="4631382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4"/>
              </a:lnSpc>
            </a:pPr>
            <a:r>
              <a:rPr lang="en-US" sz="1751" b="1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Algorithm:</a:t>
            </a:r>
            <a:r>
              <a:rPr lang="en-US" sz="1751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Random Forest Regressor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04620" y="4718298"/>
            <a:ext cx="4631382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4"/>
              </a:lnSpc>
            </a:pPr>
            <a:r>
              <a:rPr lang="en-US" sz="1751" b="1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Goal:</a:t>
            </a:r>
            <a:r>
              <a:rPr lang="en-US" sz="1751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Predict daily cash withdrawal amount for each ATM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004620" y="5611863"/>
            <a:ext cx="4631382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4"/>
              </a:lnSpc>
            </a:pPr>
            <a:r>
              <a:rPr lang="en-US" sz="1751" b="1">
                <a:solidFill>
                  <a:srgbClr val="2C3249"/>
                </a:solidFill>
                <a:latin typeface="Consolas Bold"/>
                <a:ea typeface="Consolas Bold"/>
                <a:cs typeface="Consolas Bold"/>
                <a:sym typeface="Consolas Bold"/>
              </a:rPr>
              <a:t>Output file:</a:t>
            </a:r>
            <a:r>
              <a:rPr lang="en-US" sz="1751">
                <a:solidFill>
                  <a:srgbClr val="2C3249"/>
                </a:solidFill>
                <a:latin typeface="Consolas"/>
                <a:ea typeface="Consolas"/>
                <a:cs typeface="Consolas"/>
                <a:sym typeface="Consolas"/>
              </a:rPr>
              <a:t> ALL_ATM_regression_results.xlsx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04620" y="6629252"/>
            <a:ext cx="4631382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4"/>
              </a:lnSpc>
            </a:pPr>
            <a:r>
              <a:rPr lang="en-US" sz="1751" b="1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Performance Metrics: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04620" y="7203134"/>
            <a:ext cx="4631382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36" lvl="1" indent="-131967">
              <a:lnSpc>
                <a:spcPts val="2874"/>
              </a:lnSpc>
              <a:buFont typeface="Arial"/>
              <a:buChar char="•"/>
            </a:pPr>
            <a:r>
              <a:rPr lang="en-US" sz="1751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MAE (Mean Absolute Error): </a:t>
            </a:r>
            <a:r>
              <a:rPr lang="en-US" sz="1751" b="1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95.886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04620" y="7650661"/>
            <a:ext cx="4631382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36" lvl="1" indent="-131967">
              <a:lnSpc>
                <a:spcPts val="2874"/>
              </a:lnSpc>
              <a:buFont typeface="Arial"/>
              <a:buChar char="•"/>
            </a:pPr>
            <a:r>
              <a:rPr lang="en-US" sz="1751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RMSE (Root Mean Squared Error): </a:t>
            </a:r>
            <a:r>
              <a:rPr lang="en-US" sz="1751" b="1">
                <a:solidFill>
                  <a:srgbClr val="2C3249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309.952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04620" y="8465494"/>
            <a:ext cx="4631382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36" lvl="1" indent="-131967">
              <a:lnSpc>
                <a:spcPts val="2874"/>
              </a:lnSpc>
              <a:buFont typeface="Arial"/>
              <a:buChar char="•"/>
            </a:pPr>
            <a:r>
              <a:rPr lang="en-US" sz="1751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R² Score: 0.8292</a:t>
            </a:r>
          </a:p>
        </p:txBody>
      </p:sp>
    </p:spTree>
    <p:extLst>
      <p:ext uri="{BB962C8B-B14F-4D97-AF65-F5344CB8AC3E}">
        <p14:creationId xmlns:p14="http://schemas.microsoft.com/office/powerpoint/2010/main" val="3981084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6"/>
          <p:cNvSpPr txBox="1"/>
          <p:nvPr/>
        </p:nvSpPr>
        <p:spPr>
          <a:xfrm>
            <a:off x="921692" y="560040"/>
            <a:ext cx="9746308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5125" dirty="0" smtClean="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Partial output / Initial Analysis </a:t>
            </a:r>
            <a:endParaRPr lang="en-US" sz="5125" dirty="0">
              <a:solidFill>
                <a:srgbClr val="272D4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40210"/>
            <a:ext cx="10058400" cy="37794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134100"/>
            <a:ext cx="10058400" cy="3113522"/>
          </a:xfrm>
          <a:prstGeom prst="rect">
            <a:avLst/>
          </a:prstGeom>
        </p:spPr>
      </p:pic>
      <p:sp>
        <p:nvSpPr>
          <p:cNvPr id="7" name="TextBox 9"/>
          <p:cNvSpPr txBox="1"/>
          <p:nvPr/>
        </p:nvSpPr>
        <p:spPr>
          <a:xfrm>
            <a:off x="12231227" y="3352527"/>
            <a:ext cx="5243378" cy="3826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1"/>
              </a:lnSpc>
            </a:pPr>
            <a:r>
              <a:rPr lang="en-US" sz="1793" dirty="0">
                <a:solidFill>
                  <a:srgbClr val="272D45"/>
                </a:solidFill>
                <a:latin typeface="Canva Sans"/>
                <a:ea typeface="Canva Sans"/>
                <a:cs typeface="Canva Sans"/>
                <a:sym typeface="Canva Sans"/>
              </a:rPr>
              <a:t>The dataset has been cleaned by handling missing values and duplicates.</a:t>
            </a:r>
          </a:p>
          <a:p>
            <a:pPr algn="ctr">
              <a:lnSpc>
                <a:spcPts val="2511"/>
              </a:lnSpc>
            </a:pPr>
            <a:endParaRPr lang="en-US" sz="1793" dirty="0">
              <a:solidFill>
                <a:srgbClr val="272D4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2511"/>
              </a:lnSpc>
            </a:pPr>
            <a:r>
              <a:rPr lang="en-US" sz="1793" dirty="0">
                <a:solidFill>
                  <a:srgbClr val="272D45"/>
                </a:solidFill>
                <a:latin typeface="Canva Sans"/>
                <a:ea typeface="Canva Sans"/>
                <a:cs typeface="Canva Sans"/>
                <a:sym typeface="Canva Sans"/>
              </a:rPr>
              <a:t>The </a:t>
            </a:r>
            <a:r>
              <a:rPr lang="en-US" sz="1793" b="1" dirty="0">
                <a:solidFill>
                  <a:srgbClr val="272D45"/>
                </a:solidFill>
                <a:latin typeface="Canva Sans"/>
                <a:ea typeface="Canva Sans"/>
                <a:cs typeface="Canva Sans"/>
                <a:sym typeface="Canva Sans"/>
              </a:rPr>
              <a:t>cleaned dataset preview </a:t>
            </a:r>
            <a:r>
              <a:rPr lang="en-US" sz="1793" dirty="0">
                <a:solidFill>
                  <a:srgbClr val="272D45"/>
                </a:solidFill>
                <a:latin typeface="Canva Sans"/>
                <a:ea typeface="Canva Sans"/>
                <a:cs typeface="Canva Sans"/>
                <a:sym typeface="Canva Sans"/>
              </a:rPr>
              <a:t>shows the first few rows after cleaning</a:t>
            </a:r>
            <a:r>
              <a:rPr lang="en-US" sz="1793" dirty="0" smtClean="0">
                <a:solidFill>
                  <a:srgbClr val="272D45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ctr">
              <a:lnSpc>
                <a:spcPts val="2511"/>
              </a:lnSpc>
            </a:pPr>
            <a:endParaRPr lang="en-US" sz="1793" dirty="0">
              <a:solidFill>
                <a:srgbClr val="272D4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2511"/>
              </a:lnSpc>
            </a:pPr>
            <a:endParaRPr lang="en-US" sz="1793" b="1" dirty="0">
              <a:solidFill>
                <a:srgbClr val="272D4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2511"/>
              </a:lnSpc>
            </a:pPr>
            <a:r>
              <a:rPr lang="en-US" sz="1793" b="1" dirty="0">
                <a:solidFill>
                  <a:srgbClr val="272D45"/>
                </a:solidFill>
                <a:latin typeface="Canva Sans"/>
                <a:ea typeface="Canva Sans"/>
                <a:cs typeface="Canva Sans"/>
                <a:sym typeface="Canva Sans"/>
              </a:rPr>
              <a:t>Summary statistics </a:t>
            </a:r>
            <a:r>
              <a:rPr lang="en-US" sz="1793" dirty="0">
                <a:solidFill>
                  <a:srgbClr val="272D45"/>
                </a:solidFill>
                <a:latin typeface="Canva Sans"/>
                <a:ea typeface="Canva Sans"/>
                <a:cs typeface="Canva Sans"/>
                <a:sym typeface="Canva Sans"/>
              </a:rPr>
              <a:t>show basic details like mean, min, max, and standard deviation.</a:t>
            </a:r>
          </a:p>
          <a:p>
            <a:pPr algn="ctr">
              <a:lnSpc>
                <a:spcPts val="2511"/>
              </a:lnSpc>
            </a:pPr>
            <a:endParaRPr lang="en-US" sz="1793" dirty="0">
              <a:solidFill>
                <a:srgbClr val="272D4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2511"/>
              </a:lnSpc>
            </a:pPr>
            <a:r>
              <a:rPr lang="en-US" sz="1793" dirty="0">
                <a:solidFill>
                  <a:srgbClr val="272D45"/>
                </a:solidFill>
                <a:latin typeface="Canva Sans"/>
                <a:ea typeface="Canva Sans"/>
                <a:cs typeface="Canva Sans"/>
                <a:sym typeface="Canva Sans"/>
              </a:rPr>
              <a:t>These give a quick view of the data before further analysis.</a:t>
            </a:r>
          </a:p>
        </p:txBody>
      </p:sp>
      <p:sp>
        <p:nvSpPr>
          <p:cNvPr id="8" name="TextBox 9"/>
          <p:cNvSpPr txBox="1"/>
          <p:nvPr/>
        </p:nvSpPr>
        <p:spPr>
          <a:xfrm>
            <a:off x="1295400" y="5338369"/>
            <a:ext cx="7986532" cy="300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Preview of the dataset after cleaning, showing the first few records.</a:t>
            </a:r>
            <a:endParaRPr lang="en-US" sz="1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95400" y="9423737"/>
            <a:ext cx="7986532" cy="620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Overview of numeric columns showing basic statistics after data cleaning.</a:t>
            </a:r>
            <a:endParaRPr lang="en-US" sz="1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1637890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BF4F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531377" y="1218844"/>
            <a:ext cx="12879823" cy="745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dirty="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Power BI Dashboard – ATM Cash &amp; Refill 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11199" y="3352527"/>
            <a:ext cx="4063405" cy="5770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11"/>
              </a:lnSpc>
            </a:pPr>
            <a:r>
              <a:rPr lang="en-US" sz="1793" b="1" dirty="0">
                <a:solidFill>
                  <a:srgbClr val="272D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Sources Used</a:t>
            </a:r>
          </a:p>
          <a:p>
            <a:pPr marL="387300" lvl="1" indent="-193650" algn="ctr">
              <a:lnSpc>
                <a:spcPts val="2511"/>
              </a:lnSpc>
              <a:buFont typeface="Arial"/>
              <a:buChar char="•"/>
            </a:pPr>
            <a:r>
              <a:rPr lang="en-US" sz="1793" dirty="0">
                <a:solidFill>
                  <a:srgbClr val="272D45"/>
                </a:solidFill>
                <a:latin typeface="Canva Sans"/>
                <a:ea typeface="Canva Sans"/>
                <a:cs typeface="Canva Sans"/>
                <a:sym typeface="Canva Sans"/>
              </a:rPr>
              <a:t>Cleaned ATM dataset: DAF_PROJECT_clean_for_PowerBI.xlsx</a:t>
            </a:r>
          </a:p>
          <a:p>
            <a:pPr marL="387300" lvl="1" indent="-193650" algn="ctr">
              <a:lnSpc>
                <a:spcPts val="2511"/>
              </a:lnSpc>
              <a:buFont typeface="Arial"/>
              <a:buChar char="•"/>
            </a:pPr>
            <a:r>
              <a:rPr lang="en-US" sz="1793" dirty="0">
                <a:solidFill>
                  <a:srgbClr val="272D45"/>
                </a:solidFill>
                <a:latin typeface="Canva Sans"/>
                <a:ea typeface="Canva Sans"/>
                <a:cs typeface="Canva Sans"/>
                <a:sym typeface="Canva Sans"/>
              </a:rPr>
              <a:t>Classification results: ALL_ATM_classification_results.xlsx</a:t>
            </a:r>
          </a:p>
          <a:p>
            <a:pPr marL="387300" lvl="1" indent="-193650" algn="ctr">
              <a:lnSpc>
                <a:spcPts val="2511"/>
              </a:lnSpc>
              <a:buFont typeface="Arial"/>
              <a:buChar char="•"/>
            </a:pPr>
            <a:r>
              <a:rPr lang="en-US" sz="1793" dirty="0">
                <a:solidFill>
                  <a:srgbClr val="272D45"/>
                </a:solidFill>
                <a:latin typeface="Canva Sans"/>
                <a:ea typeface="Canva Sans"/>
                <a:cs typeface="Canva Sans"/>
                <a:sym typeface="Canva Sans"/>
              </a:rPr>
              <a:t>Regression results: ALL_ATM_regression_results.xlsx</a:t>
            </a:r>
          </a:p>
          <a:p>
            <a:pPr algn="ctr">
              <a:lnSpc>
                <a:spcPts val="2511"/>
              </a:lnSpc>
            </a:pPr>
            <a:endParaRPr lang="en-US" sz="1793" dirty="0">
              <a:solidFill>
                <a:srgbClr val="272D4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2511"/>
              </a:lnSpc>
            </a:pPr>
            <a:r>
              <a:rPr lang="en-US" sz="1793" b="1" dirty="0">
                <a:solidFill>
                  <a:srgbClr val="272D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Usage</a:t>
            </a:r>
          </a:p>
          <a:p>
            <a:pPr algn="ctr">
              <a:lnSpc>
                <a:spcPts val="2511"/>
              </a:lnSpc>
            </a:pPr>
            <a:r>
              <a:rPr lang="en-US" sz="1793" dirty="0">
                <a:solidFill>
                  <a:srgbClr val="272D45"/>
                </a:solidFill>
                <a:latin typeface="Canva Sans"/>
                <a:ea typeface="Canva Sans"/>
                <a:cs typeface="Canva Sans"/>
                <a:sym typeface="Canva Sans"/>
              </a:rPr>
              <a:t>From the charts, they can see how much cash is used and when cash becomes low.</a:t>
            </a:r>
          </a:p>
          <a:p>
            <a:pPr algn="ctr">
              <a:lnSpc>
                <a:spcPts val="2511"/>
              </a:lnSpc>
            </a:pPr>
            <a:r>
              <a:rPr lang="en-US" sz="1793" dirty="0">
                <a:solidFill>
                  <a:srgbClr val="272D45"/>
                </a:solidFill>
                <a:latin typeface="Canva Sans"/>
                <a:ea typeface="Canva Sans"/>
                <a:cs typeface="Canva Sans"/>
                <a:sym typeface="Canva Sans"/>
              </a:rPr>
              <a:t> This helps them decide how much cash to keep in the ATM and when to refill it.</a:t>
            </a:r>
          </a:p>
          <a:p>
            <a:pPr algn="ctr">
              <a:lnSpc>
                <a:spcPts val="2511"/>
              </a:lnSpc>
            </a:pPr>
            <a:endParaRPr lang="en-US" sz="1793" dirty="0">
              <a:solidFill>
                <a:srgbClr val="272D45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23" y="2324100"/>
            <a:ext cx="13169675" cy="762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6"/>
          <p:cNvSpPr txBox="1"/>
          <p:nvPr/>
        </p:nvSpPr>
        <p:spPr>
          <a:xfrm>
            <a:off x="914765" y="284465"/>
            <a:ext cx="12108508" cy="1641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37"/>
              </a:lnSpc>
            </a:pPr>
            <a:r>
              <a:rPr lang="en-US" sz="5400" dirty="0">
                <a:solidFill>
                  <a:srgbClr val="272D45"/>
                </a:solidFill>
                <a:latin typeface="Arimo"/>
                <a:ea typeface="Arimo"/>
                <a:cs typeface="Arimo"/>
              </a:rPr>
              <a:t>Recommendations &amp; Service Improvements</a:t>
            </a:r>
            <a:endParaRPr lang="en-US" sz="5400" dirty="0">
              <a:solidFill>
                <a:srgbClr val="272D4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" name="TextBox 9"/>
          <p:cNvSpPr txBox="1"/>
          <p:nvPr/>
        </p:nvSpPr>
        <p:spPr>
          <a:xfrm>
            <a:off x="1295400" y="5338369"/>
            <a:ext cx="7986532" cy="298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  <a:endParaRPr lang="en-US" sz="1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0" name="Group 7"/>
          <p:cNvGrpSpPr/>
          <p:nvPr/>
        </p:nvGrpSpPr>
        <p:grpSpPr>
          <a:xfrm>
            <a:off x="1295400" y="6667500"/>
            <a:ext cx="14325600" cy="2650721"/>
            <a:chOff x="0" y="0"/>
            <a:chExt cx="9513009" cy="5673783"/>
          </a:xfrm>
        </p:grpSpPr>
        <p:sp>
          <p:nvSpPr>
            <p:cNvPr id="11" name="Freeform 8"/>
            <p:cNvSpPr/>
            <p:nvPr/>
          </p:nvSpPr>
          <p:spPr>
            <a:xfrm>
              <a:off x="9548" y="6172"/>
              <a:ext cx="9493983" cy="5661416"/>
            </a:xfrm>
            <a:custGeom>
              <a:avLst/>
              <a:gdLst/>
              <a:ahLst/>
              <a:cxnLst/>
              <a:rect l="l" t="t" r="r" b="b"/>
              <a:pathLst>
                <a:path w="9493983" h="5661416">
                  <a:moveTo>
                    <a:pt x="0" y="133305"/>
                  </a:moveTo>
                  <a:cubicBezTo>
                    <a:pt x="0" y="59617"/>
                    <a:pt x="92236" y="0"/>
                    <a:pt x="206242" y="0"/>
                  </a:cubicBezTo>
                  <a:lnTo>
                    <a:pt x="9287742" y="0"/>
                  </a:lnTo>
                  <a:cubicBezTo>
                    <a:pt x="9401557" y="0"/>
                    <a:pt x="9493984" y="59617"/>
                    <a:pt x="9493984" y="133305"/>
                  </a:cubicBezTo>
                  <a:lnTo>
                    <a:pt x="9493984" y="5528110"/>
                  </a:lnTo>
                  <a:cubicBezTo>
                    <a:pt x="9493984" y="5601675"/>
                    <a:pt x="9401748" y="5661416"/>
                    <a:pt x="9287742" y="5661416"/>
                  </a:cubicBezTo>
                  <a:lnTo>
                    <a:pt x="206242" y="5661416"/>
                  </a:lnTo>
                  <a:cubicBezTo>
                    <a:pt x="92427" y="5661416"/>
                    <a:pt x="0" y="5601799"/>
                    <a:pt x="0" y="5528110"/>
                  </a:cubicBezTo>
                  <a:close/>
                </a:path>
              </a:pathLst>
            </a:custGeom>
            <a:solidFill>
              <a:srgbClr val="DFECE9"/>
            </a:solidFill>
            <a:ln w="12700">
              <a:solidFill>
                <a:srgbClr val="000000"/>
              </a:solidFill>
            </a:ln>
          </p:spPr>
        </p:sp>
        <p:sp>
          <p:nvSpPr>
            <p:cNvPr id="12" name="Freeform 9"/>
            <p:cNvSpPr/>
            <p:nvPr/>
          </p:nvSpPr>
          <p:spPr>
            <a:xfrm>
              <a:off x="0" y="0"/>
              <a:ext cx="9513056" cy="5673759"/>
            </a:xfrm>
            <a:custGeom>
              <a:avLst/>
              <a:gdLst/>
              <a:ahLst/>
              <a:cxnLst/>
              <a:rect l="l" t="t" r="r" b="b"/>
              <a:pathLst>
                <a:path w="9513056" h="5673759">
                  <a:moveTo>
                    <a:pt x="0" y="139477"/>
                  </a:moveTo>
                  <a:cubicBezTo>
                    <a:pt x="0" y="62456"/>
                    <a:pt x="96628" y="0"/>
                    <a:pt x="215790" y="0"/>
                  </a:cubicBezTo>
                  <a:lnTo>
                    <a:pt x="9297290" y="0"/>
                  </a:lnTo>
                  <a:lnTo>
                    <a:pt x="9297290" y="6172"/>
                  </a:lnTo>
                  <a:lnTo>
                    <a:pt x="9297290" y="0"/>
                  </a:lnTo>
                  <a:cubicBezTo>
                    <a:pt x="9416452" y="0"/>
                    <a:pt x="9513056" y="62456"/>
                    <a:pt x="9513056" y="139477"/>
                  </a:cubicBezTo>
                  <a:lnTo>
                    <a:pt x="9503532" y="139477"/>
                  </a:lnTo>
                  <a:lnTo>
                    <a:pt x="9513056" y="139477"/>
                  </a:lnTo>
                  <a:lnTo>
                    <a:pt x="9513056" y="5534282"/>
                  </a:lnTo>
                  <a:lnTo>
                    <a:pt x="9503532" y="5534282"/>
                  </a:lnTo>
                  <a:lnTo>
                    <a:pt x="9513056" y="5534282"/>
                  </a:lnTo>
                  <a:cubicBezTo>
                    <a:pt x="9513056" y="5611303"/>
                    <a:pt x="9416452" y="5673759"/>
                    <a:pt x="9297290" y="5673759"/>
                  </a:cubicBezTo>
                  <a:lnTo>
                    <a:pt x="9297290" y="5667588"/>
                  </a:lnTo>
                  <a:lnTo>
                    <a:pt x="9297290" y="5673759"/>
                  </a:lnTo>
                  <a:lnTo>
                    <a:pt x="215790" y="5673759"/>
                  </a:lnTo>
                  <a:lnTo>
                    <a:pt x="215790" y="5667588"/>
                  </a:lnTo>
                  <a:lnTo>
                    <a:pt x="215790" y="5673759"/>
                  </a:lnTo>
                  <a:cubicBezTo>
                    <a:pt x="96628" y="5673759"/>
                    <a:pt x="0" y="5611303"/>
                    <a:pt x="0" y="5534282"/>
                  </a:cubicBezTo>
                  <a:lnTo>
                    <a:pt x="0" y="139477"/>
                  </a:lnTo>
                  <a:lnTo>
                    <a:pt x="9548" y="139477"/>
                  </a:lnTo>
                  <a:lnTo>
                    <a:pt x="0" y="139477"/>
                  </a:lnTo>
                  <a:moveTo>
                    <a:pt x="19096" y="139477"/>
                  </a:moveTo>
                  <a:lnTo>
                    <a:pt x="19096" y="5534282"/>
                  </a:lnTo>
                  <a:lnTo>
                    <a:pt x="9548" y="5534282"/>
                  </a:lnTo>
                  <a:lnTo>
                    <a:pt x="19096" y="5534282"/>
                  </a:lnTo>
                  <a:cubicBezTo>
                    <a:pt x="19096" y="5604514"/>
                    <a:pt x="107131" y="5661416"/>
                    <a:pt x="215790" y="5661416"/>
                  </a:cubicBezTo>
                  <a:lnTo>
                    <a:pt x="9297290" y="5661416"/>
                  </a:lnTo>
                  <a:cubicBezTo>
                    <a:pt x="9405949" y="5661416"/>
                    <a:pt x="9493983" y="5604514"/>
                    <a:pt x="9493983" y="5534282"/>
                  </a:cubicBezTo>
                  <a:lnTo>
                    <a:pt x="9493983" y="139477"/>
                  </a:lnTo>
                  <a:cubicBezTo>
                    <a:pt x="9493983" y="69245"/>
                    <a:pt x="9405949" y="12343"/>
                    <a:pt x="9297290" y="12343"/>
                  </a:cubicBezTo>
                  <a:lnTo>
                    <a:pt x="215790" y="12343"/>
                  </a:lnTo>
                  <a:lnTo>
                    <a:pt x="215790" y="6172"/>
                  </a:lnTo>
                  <a:lnTo>
                    <a:pt x="215790" y="12343"/>
                  </a:lnTo>
                  <a:cubicBezTo>
                    <a:pt x="107131" y="12343"/>
                    <a:pt x="19096" y="69245"/>
                    <a:pt x="19096" y="139477"/>
                  </a:cubicBezTo>
                  <a:close/>
                </a:path>
              </a:pathLst>
            </a:custGeom>
            <a:solidFill>
              <a:srgbClr val="C5D2C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3" name="TextBox 16"/>
          <p:cNvSpPr txBox="1"/>
          <p:nvPr/>
        </p:nvSpPr>
        <p:spPr>
          <a:xfrm>
            <a:off x="914765" y="5477700"/>
            <a:ext cx="9746308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37"/>
              </a:lnSpc>
            </a:pPr>
            <a:r>
              <a:rPr lang="en-US" sz="5400" dirty="0" smtClean="0">
                <a:solidFill>
                  <a:srgbClr val="272D45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  <a:endParaRPr lang="en-US" sz="5125" dirty="0">
              <a:solidFill>
                <a:srgbClr val="272D4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14" name="Group 7"/>
          <p:cNvGrpSpPr/>
          <p:nvPr/>
        </p:nvGrpSpPr>
        <p:grpSpPr>
          <a:xfrm>
            <a:off x="914765" y="2276029"/>
            <a:ext cx="8175666" cy="2788524"/>
            <a:chOff x="0" y="0"/>
            <a:chExt cx="9513009" cy="5673783"/>
          </a:xfrm>
        </p:grpSpPr>
        <p:sp>
          <p:nvSpPr>
            <p:cNvPr id="15" name="Freeform 8"/>
            <p:cNvSpPr/>
            <p:nvPr/>
          </p:nvSpPr>
          <p:spPr>
            <a:xfrm>
              <a:off x="9548" y="6172"/>
              <a:ext cx="9493983" cy="5661416"/>
            </a:xfrm>
            <a:custGeom>
              <a:avLst/>
              <a:gdLst/>
              <a:ahLst/>
              <a:cxnLst/>
              <a:rect l="l" t="t" r="r" b="b"/>
              <a:pathLst>
                <a:path w="9493983" h="5661416">
                  <a:moveTo>
                    <a:pt x="0" y="133305"/>
                  </a:moveTo>
                  <a:cubicBezTo>
                    <a:pt x="0" y="59617"/>
                    <a:pt x="92236" y="0"/>
                    <a:pt x="206242" y="0"/>
                  </a:cubicBezTo>
                  <a:lnTo>
                    <a:pt x="9287742" y="0"/>
                  </a:lnTo>
                  <a:cubicBezTo>
                    <a:pt x="9401557" y="0"/>
                    <a:pt x="9493984" y="59617"/>
                    <a:pt x="9493984" y="133305"/>
                  </a:cubicBezTo>
                  <a:lnTo>
                    <a:pt x="9493984" y="5528110"/>
                  </a:lnTo>
                  <a:cubicBezTo>
                    <a:pt x="9493984" y="5601675"/>
                    <a:pt x="9401748" y="5661416"/>
                    <a:pt x="9287742" y="5661416"/>
                  </a:cubicBezTo>
                  <a:lnTo>
                    <a:pt x="206242" y="5661416"/>
                  </a:lnTo>
                  <a:cubicBezTo>
                    <a:pt x="92427" y="5661416"/>
                    <a:pt x="0" y="5601799"/>
                    <a:pt x="0" y="5528110"/>
                  </a:cubicBezTo>
                  <a:close/>
                </a:path>
              </a:pathLst>
            </a:custGeom>
            <a:solidFill>
              <a:srgbClr val="DFECE9"/>
            </a:solidFill>
            <a:ln w="12700">
              <a:solidFill>
                <a:srgbClr val="000000"/>
              </a:solidFill>
            </a:ln>
          </p:spPr>
        </p:sp>
        <p:sp>
          <p:nvSpPr>
            <p:cNvPr id="16" name="Freeform 9"/>
            <p:cNvSpPr/>
            <p:nvPr/>
          </p:nvSpPr>
          <p:spPr>
            <a:xfrm>
              <a:off x="0" y="0"/>
              <a:ext cx="9513056" cy="5673759"/>
            </a:xfrm>
            <a:custGeom>
              <a:avLst/>
              <a:gdLst/>
              <a:ahLst/>
              <a:cxnLst/>
              <a:rect l="l" t="t" r="r" b="b"/>
              <a:pathLst>
                <a:path w="9513056" h="5673759">
                  <a:moveTo>
                    <a:pt x="0" y="139477"/>
                  </a:moveTo>
                  <a:cubicBezTo>
                    <a:pt x="0" y="62456"/>
                    <a:pt x="96628" y="0"/>
                    <a:pt x="215790" y="0"/>
                  </a:cubicBezTo>
                  <a:lnTo>
                    <a:pt x="9297290" y="0"/>
                  </a:lnTo>
                  <a:lnTo>
                    <a:pt x="9297290" y="6172"/>
                  </a:lnTo>
                  <a:lnTo>
                    <a:pt x="9297290" y="0"/>
                  </a:lnTo>
                  <a:cubicBezTo>
                    <a:pt x="9416452" y="0"/>
                    <a:pt x="9513056" y="62456"/>
                    <a:pt x="9513056" y="139477"/>
                  </a:cubicBezTo>
                  <a:lnTo>
                    <a:pt x="9503532" y="139477"/>
                  </a:lnTo>
                  <a:lnTo>
                    <a:pt x="9513056" y="139477"/>
                  </a:lnTo>
                  <a:lnTo>
                    <a:pt x="9513056" y="5534282"/>
                  </a:lnTo>
                  <a:lnTo>
                    <a:pt x="9503532" y="5534282"/>
                  </a:lnTo>
                  <a:lnTo>
                    <a:pt x="9513056" y="5534282"/>
                  </a:lnTo>
                  <a:cubicBezTo>
                    <a:pt x="9513056" y="5611303"/>
                    <a:pt x="9416452" y="5673759"/>
                    <a:pt x="9297290" y="5673759"/>
                  </a:cubicBezTo>
                  <a:lnTo>
                    <a:pt x="9297290" y="5667588"/>
                  </a:lnTo>
                  <a:lnTo>
                    <a:pt x="9297290" y="5673759"/>
                  </a:lnTo>
                  <a:lnTo>
                    <a:pt x="215790" y="5673759"/>
                  </a:lnTo>
                  <a:lnTo>
                    <a:pt x="215790" y="5667588"/>
                  </a:lnTo>
                  <a:lnTo>
                    <a:pt x="215790" y="5673759"/>
                  </a:lnTo>
                  <a:cubicBezTo>
                    <a:pt x="96628" y="5673759"/>
                    <a:pt x="0" y="5611303"/>
                    <a:pt x="0" y="5534282"/>
                  </a:cubicBezTo>
                  <a:lnTo>
                    <a:pt x="0" y="139477"/>
                  </a:lnTo>
                  <a:lnTo>
                    <a:pt x="9548" y="139477"/>
                  </a:lnTo>
                  <a:lnTo>
                    <a:pt x="0" y="139477"/>
                  </a:lnTo>
                  <a:moveTo>
                    <a:pt x="19096" y="139477"/>
                  </a:moveTo>
                  <a:lnTo>
                    <a:pt x="19096" y="5534282"/>
                  </a:lnTo>
                  <a:lnTo>
                    <a:pt x="9548" y="5534282"/>
                  </a:lnTo>
                  <a:lnTo>
                    <a:pt x="19096" y="5534282"/>
                  </a:lnTo>
                  <a:cubicBezTo>
                    <a:pt x="19096" y="5604514"/>
                    <a:pt x="107131" y="5661416"/>
                    <a:pt x="215790" y="5661416"/>
                  </a:cubicBezTo>
                  <a:lnTo>
                    <a:pt x="9297290" y="5661416"/>
                  </a:lnTo>
                  <a:cubicBezTo>
                    <a:pt x="9405949" y="5661416"/>
                    <a:pt x="9493983" y="5604514"/>
                    <a:pt x="9493983" y="5534282"/>
                  </a:cubicBezTo>
                  <a:lnTo>
                    <a:pt x="9493983" y="139477"/>
                  </a:lnTo>
                  <a:cubicBezTo>
                    <a:pt x="9493983" y="69245"/>
                    <a:pt x="9405949" y="12343"/>
                    <a:pt x="9297290" y="12343"/>
                  </a:cubicBezTo>
                  <a:lnTo>
                    <a:pt x="215790" y="12343"/>
                  </a:lnTo>
                  <a:lnTo>
                    <a:pt x="215790" y="6172"/>
                  </a:lnTo>
                  <a:lnTo>
                    <a:pt x="215790" y="12343"/>
                  </a:lnTo>
                  <a:cubicBezTo>
                    <a:pt x="107131" y="12343"/>
                    <a:pt x="19096" y="69245"/>
                    <a:pt x="19096" y="139477"/>
                  </a:cubicBezTo>
                  <a:close/>
                </a:path>
              </a:pathLst>
            </a:custGeom>
            <a:solidFill>
              <a:srgbClr val="C5D2C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8" name="TextBox 13"/>
          <p:cNvSpPr txBox="1"/>
          <p:nvPr/>
        </p:nvSpPr>
        <p:spPr>
          <a:xfrm>
            <a:off x="1221617" y="2688559"/>
            <a:ext cx="5257800" cy="357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sz="2375" dirty="0" smtClean="0">
                <a:solidFill>
                  <a:srgbClr val="2C3249"/>
                </a:solidFill>
                <a:latin typeface="Arimo"/>
                <a:ea typeface="Arimo"/>
                <a:cs typeface="Arimo"/>
              </a:rPr>
              <a:t>Women’s Safety </a:t>
            </a:r>
            <a:r>
              <a:rPr lang="en-US" sz="2375" dirty="0">
                <a:solidFill>
                  <a:srgbClr val="2C3249"/>
                </a:solidFill>
                <a:latin typeface="Arimo"/>
                <a:ea typeface="Arimo"/>
                <a:cs typeface="Arimo"/>
              </a:rPr>
              <a:t>Recommendations</a:t>
            </a:r>
            <a:endParaRPr lang="en-US" sz="2375" dirty="0">
              <a:solidFill>
                <a:srgbClr val="2C324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19" name="Group 7"/>
          <p:cNvGrpSpPr/>
          <p:nvPr/>
        </p:nvGrpSpPr>
        <p:grpSpPr>
          <a:xfrm>
            <a:off x="9541791" y="2276029"/>
            <a:ext cx="7972154" cy="2785220"/>
            <a:chOff x="0" y="0"/>
            <a:chExt cx="9513009" cy="5673783"/>
          </a:xfrm>
        </p:grpSpPr>
        <p:sp>
          <p:nvSpPr>
            <p:cNvPr id="20" name="Freeform 8"/>
            <p:cNvSpPr/>
            <p:nvPr/>
          </p:nvSpPr>
          <p:spPr>
            <a:xfrm>
              <a:off x="9548" y="6172"/>
              <a:ext cx="9493983" cy="5661416"/>
            </a:xfrm>
            <a:custGeom>
              <a:avLst/>
              <a:gdLst/>
              <a:ahLst/>
              <a:cxnLst/>
              <a:rect l="l" t="t" r="r" b="b"/>
              <a:pathLst>
                <a:path w="9493983" h="5661416">
                  <a:moveTo>
                    <a:pt x="0" y="133305"/>
                  </a:moveTo>
                  <a:cubicBezTo>
                    <a:pt x="0" y="59617"/>
                    <a:pt x="92236" y="0"/>
                    <a:pt x="206242" y="0"/>
                  </a:cubicBezTo>
                  <a:lnTo>
                    <a:pt x="9287742" y="0"/>
                  </a:lnTo>
                  <a:cubicBezTo>
                    <a:pt x="9401557" y="0"/>
                    <a:pt x="9493984" y="59617"/>
                    <a:pt x="9493984" y="133305"/>
                  </a:cubicBezTo>
                  <a:lnTo>
                    <a:pt x="9493984" y="5528110"/>
                  </a:lnTo>
                  <a:cubicBezTo>
                    <a:pt x="9493984" y="5601675"/>
                    <a:pt x="9401748" y="5661416"/>
                    <a:pt x="9287742" y="5661416"/>
                  </a:cubicBezTo>
                  <a:lnTo>
                    <a:pt x="206242" y="5661416"/>
                  </a:lnTo>
                  <a:cubicBezTo>
                    <a:pt x="92427" y="5661416"/>
                    <a:pt x="0" y="5601799"/>
                    <a:pt x="0" y="5528110"/>
                  </a:cubicBezTo>
                  <a:close/>
                </a:path>
              </a:pathLst>
            </a:custGeom>
            <a:solidFill>
              <a:srgbClr val="DFECE9"/>
            </a:solidFill>
            <a:ln w="12700">
              <a:solidFill>
                <a:srgbClr val="000000"/>
              </a:solidFill>
            </a:ln>
          </p:spPr>
        </p:sp>
        <p:sp>
          <p:nvSpPr>
            <p:cNvPr id="21" name="Freeform 9"/>
            <p:cNvSpPr/>
            <p:nvPr/>
          </p:nvSpPr>
          <p:spPr>
            <a:xfrm>
              <a:off x="0" y="0"/>
              <a:ext cx="9513056" cy="5673759"/>
            </a:xfrm>
            <a:custGeom>
              <a:avLst/>
              <a:gdLst/>
              <a:ahLst/>
              <a:cxnLst/>
              <a:rect l="l" t="t" r="r" b="b"/>
              <a:pathLst>
                <a:path w="9513056" h="5673759">
                  <a:moveTo>
                    <a:pt x="0" y="139477"/>
                  </a:moveTo>
                  <a:cubicBezTo>
                    <a:pt x="0" y="62456"/>
                    <a:pt x="96628" y="0"/>
                    <a:pt x="215790" y="0"/>
                  </a:cubicBezTo>
                  <a:lnTo>
                    <a:pt x="9297290" y="0"/>
                  </a:lnTo>
                  <a:lnTo>
                    <a:pt x="9297290" y="6172"/>
                  </a:lnTo>
                  <a:lnTo>
                    <a:pt x="9297290" y="0"/>
                  </a:lnTo>
                  <a:cubicBezTo>
                    <a:pt x="9416452" y="0"/>
                    <a:pt x="9513056" y="62456"/>
                    <a:pt x="9513056" y="139477"/>
                  </a:cubicBezTo>
                  <a:lnTo>
                    <a:pt x="9503532" y="139477"/>
                  </a:lnTo>
                  <a:lnTo>
                    <a:pt x="9513056" y="139477"/>
                  </a:lnTo>
                  <a:lnTo>
                    <a:pt x="9513056" y="5534282"/>
                  </a:lnTo>
                  <a:lnTo>
                    <a:pt x="9503532" y="5534282"/>
                  </a:lnTo>
                  <a:lnTo>
                    <a:pt x="9513056" y="5534282"/>
                  </a:lnTo>
                  <a:cubicBezTo>
                    <a:pt x="9513056" y="5611303"/>
                    <a:pt x="9416452" y="5673759"/>
                    <a:pt x="9297290" y="5673759"/>
                  </a:cubicBezTo>
                  <a:lnTo>
                    <a:pt x="9297290" y="5667588"/>
                  </a:lnTo>
                  <a:lnTo>
                    <a:pt x="9297290" y="5673759"/>
                  </a:lnTo>
                  <a:lnTo>
                    <a:pt x="215790" y="5673759"/>
                  </a:lnTo>
                  <a:lnTo>
                    <a:pt x="215790" y="5667588"/>
                  </a:lnTo>
                  <a:lnTo>
                    <a:pt x="215790" y="5673759"/>
                  </a:lnTo>
                  <a:cubicBezTo>
                    <a:pt x="96628" y="5673759"/>
                    <a:pt x="0" y="5611303"/>
                    <a:pt x="0" y="5534282"/>
                  </a:cubicBezTo>
                  <a:lnTo>
                    <a:pt x="0" y="139477"/>
                  </a:lnTo>
                  <a:lnTo>
                    <a:pt x="9548" y="139477"/>
                  </a:lnTo>
                  <a:lnTo>
                    <a:pt x="0" y="139477"/>
                  </a:lnTo>
                  <a:moveTo>
                    <a:pt x="19096" y="139477"/>
                  </a:moveTo>
                  <a:lnTo>
                    <a:pt x="19096" y="5534282"/>
                  </a:lnTo>
                  <a:lnTo>
                    <a:pt x="9548" y="5534282"/>
                  </a:lnTo>
                  <a:lnTo>
                    <a:pt x="19096" y="5534282"/>
                  </a:lnTo>
                  <a:cubicBezTo>
                    <a:pt x="19096" y="5604514"/>
                    <a:pt x="107131" y="5661416"/>
                    <a:pt x="215790" y="5661416"/>
                  </a:cubicBezTo>
                  <a:lnTo>
                    <a:pt x="9297290" y="5661416"/>
                  </a:lnTo>
                  <a:cubicBezTo>
                    <a:pt x="9405949" y="5661416"/>
                    <a:pt x="9493983" y="5604514"/>
                    <a:pt x="9493983" y="5534282"/>
                  </a:cubicBezTo>
                  <a:lnTo>
                    <a:pt x="9493983" y="139477"/>
                  </a:lnTo>
                  <a:cubicBezTo>
                    <a:pt x="9493983" y="69245"/>
                    <a:pt x="9405949" y="12343"/>
                    <a:pt x="9297290" y="12343"/>
                  </a:cubicBezTo>
                  <a:lnTo>
                    <a:pt x="215790" y="12343"/>
                  </a:lnTo>
                  <a:lnTo>
                    <a:pt x="215790" y="6172"/>
                  </a:lnTo>
                  <a:lnTo>
                    <a:pt x="215790" y="12343"/>
                  </a:lnTo>
                  <a:cubicBezTo>
                    <a:pt x="107131" y="12343"/>
                    <a:pt x="19096" y="69245"/>
                    <a:pt x="19096" y="139477"/>
                  </a:cubicBezTo>
                  <a:close/>
                </a:path>
              </a:pathLst>
            </a:custGeom>
            <a:solidFill>
              <a:srgbClr val="C5D2C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3" name="TextBox 13"/>
          <p:cNvSpPr txBox="1"/>
          <p:nvPr/>
        </p:nvSpPr>
        <p:spPr>
          <a:xfrm>
            <a:off x="9945411" y="2686977"/>
            <a:ext cx="5029200" cy="367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sz="2375" dirty="0">
                <a:solidFill>
                  <a:srgbClr val="2C3249"/>
                </a:solidFill>
                <a:latin typeface="Arimo"/>
                <a:ea typeface="Arimo"/>
                <a:cs typeface="Arimo"/>
              </a:rPr>
              <a:t>Senior Citizen Recommendations</a:t>
            </a:r>
            <a:endParaRPr lang="en-US" sz="2375" dirty="0">
              <a:solidFill>
                <a:srgbClr val="2C324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676400" y="3072663"/>
            <a:ext cx="7111962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chemeClr val="tx2">
                    <a:lumMod val="50000"/>
                  </a:schemeClr>
                </a:solidFill>
              </a:rPr>
              <a:t>Better lighting around ATM locations 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chemeClr val="tx2">
                    <a:lumMod val="50000"/>
                  </a:schemeClr>
                </a:solidFill>
              </a:rPr>
              <a:t>CCTV surveillance 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chemeClr val="tx2">
                    <a:lumMod val="50000"/>
                  </a:schemeClr>
                </a:solidFill>
              </a:rPr>
              <a:t>Emergency assistance button 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chemeClr val="tx2">
                    <a:lumMod val="50000"/>
                  </a:schemeClr>
                </a:solidFill>
              </a:rPr>
              <a:t>Safe ATM locator feature 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060046" y="3103440"/>
            <a:ext cx="716115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tx2">
                    <a:lumMod val="50000"/>
                  </a:schemeClr>
                </a:solidFill>
              </a:rPr>
              <a:t>Larger display fonts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tx2">
                    <a:lumMod val="50000"/>
                  </a:schemeClr>
                </a:solidFill>
              </a:rPr>
              <a:t>Voice-assisted ATM interface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tx2">
                    <a:lumMod val="50000"/>
                  </a:schemeClr>
                </a:solidFill>
              </a:rPr>
              <a:t>Simplified transaction flow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tx2">
                    <a:lumMod val="50000"/>
                  </a:schemeClr>
                </a:solidFill>
              </a:rPr>
              <a:t>Priority support options 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683327" y="7020472"/>
            <a:ext cx="11667809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ATM withdrawal patterns were analyzed successfully. </a:t>
            </a:r>
          </a:p>
          <a:p>
            <a:pPr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Cash demand and refill requirements were predicted using machine learning models. </a:t>
            </a:r>
          </a:p>
          <a:p>
            <a:pPr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Power BI dashboards provided actionable </a:t>
            </a:r>
            <a:r>
              <a:rPr lang="en-US" altLang="en-US" sz="2000" dirty="0">
                <a:latin typeface="Arial" panose="020B0604020202020204" pitchFamily="34" charset="0"/>
              </a:rPr>
              <a:t>operational insights. </a:t>
            </a:r>
          </a:p>
          <a:p>
            <a:pPr indent="-3429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Recommendations were proposed to improve ATM safety</a:t>
            </a:r>
            <a:r>
              <a:rPr lang="en-US" altLang="en-US" sz="2000" dirty="0">
                <a:latin typeface="Arial" panose="020B0604020202020204" pitchFamily="34" charset="0"/>
              </a:rPr>
              <a:t>, accessibility, and customer experience. </a:t>
            </a:r>
          </a:p>
          <a:p>
            <a:pPr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Future innovations can help banks deliver more efficient and customer-friendly ATM services. </a:t>
            </a:r>
          </a:p>
        </p:txBody>
      </p:sp>
    </p:spTree>
    <p:extLst>
      <p:ext uri="{BB962C8B-B14F-4D97-AF65-F5344CB8AC3E}">
        <p14:creationId xmlns:p14="http://schemas.microsoft.com/office/powerpoint/2010/main" val="217246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1184</Words>
  <Application>Microsoft Office PowerPoint</Application>
  <PresentationFormat>Custom</PresentationFormat>
  <Paragraphs>170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Martel Sans</vt:lpstr>
      <vt:lpstr>Martel Sans Bold</vt:lpstr>
      <vt:lpstr>Calibri</vt:lpstr>
      <vt:lpstr>Arimo</vt:lpstr>
      <vt:lpstr>Canva Sans</vt:lpstr>
      <vt:lpstr>Consolas</vt:lpstr>
      <vt:lpstr>Canva Sans Bold</vt:lpstr>
      <vt:lpstr>Arial</vt:lpstr>
      <vt:lpstr>Consolas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ATM-Withdrawal-Consumption-Trend-and-Refill-Optimization-Study.pptx</dc:title>
  <cp:lastModifiedBy>User</cp:lastModifiedBy>
  <cp:revision>22</cp:revision>
  <dcterms:created xsi:type="dcterms:W3CDTF">2006-08-16T00:00:00Z</dcterms:created>
  <dcterms:modified xsi:type="dcterms:W3CDTF">2026-06-01T05:34:01Z</dcterms:modified>
  <dc:identifier>DAG6Ew75UsA</dc:identifier>
</cp:coreProperties>
</file>